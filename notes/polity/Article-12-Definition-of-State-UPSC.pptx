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telling the class: this one article decides WHO you can sue for a fundamental rights violation. Everything in Part III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escape problem — it is the reason every later case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bare text aloud once. Limbs 3 and 4 are where all the case law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which of the three they think is most often tested — it is the disjunctive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quote is the single best Mains opener on this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local-authority test and the other-authority tests are NOT interchangeable.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LAAFS on the board vertically and fill it in as you speak.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DDA point is the clincher — a non-elected body that still qualified.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This slide is the spine of the whole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dogs-cats-lions example makes ejusdem generis click instantly.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plain questions first, then show the legal wording underneath. Mnemonic: OWNS - PAYS - PROTECTS - RUNS - DOES -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CSIR flip confuses students every year. Say it plainly: same body, different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one concrete example: a Registrar refusing a job to a candidate on caste grounds is challengeable; a judgment against you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this slide. Cover one column and ask the class to recall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Andi Mukta v. V.R. Rudani (1989) is the authority for the public-duty writ under 226.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few aspirants link Kaushal Kishor to Article 12. That link is what separates a good Mains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to recall what happened in 1967, 1981, 2002 and 2023 — the four load-bearing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statement aloud and take a show of hands before revealing the column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functional-test line — it is the thesis sentence of any Mains answer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B1113"/>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C9A227"/>
          </a:solidFill>
          <a:ln w="12700">
            <a:solidFill>
              <a:srgbClr val="333333"/>
            </a:solidFill>
            <a:prstDash val="solid"/>
          </a:ln>
        </p:spPr>
      </p:sp>
      <p:sp>
        <p:nvSpPr>
          <p:cNvPr id="3" name="Text 1"/>
          <p:cNvSpPr txBox="1"/>
          <p:nvPr/>
        </p:nvSpPr>
        <p:spPr>
          <a:xfrm>
            <a:off x="566928" y="1417320"/>
            <a:ext cx="11057839" cy="274320"/>
          </a:xfrm>
          <a:prstGeom prst="rect">
            <a:avLst/>
          </a:prstGeom>
          <a:noFill/>
          <a:ln/>
        </p:spPr>
        <p:txBody>
          <a:bodyPr wrap="square" lIns="0" tIns="0" rIns="0" bIns="0" rtlCol="0" anchor="ctr"/>
          <a:lstStyle/>
          <a:p>
            <a:pPr indent="0" marL="0">
              <a:buNone/>
            </a:pPr>
            <a:r>
              <a:rPr lang="en-US" sz="1200" b="1" spc="250" kern="0" dirty="0">
                <a:solidFill>
                  <a:srgbClr val="C9A227"/>
                </a:solidFill>
                <a:latin typeface="Calibri" pitchFamily="34" charset="0"/>
                <a:ea typeface="Calibri" pitchFamily="34" charset="-122"/>
                <a:cs typeface="Calibri" pitchFamily="34" charset="-120"/>
              </a:rPr>
              <a:t>UPSC CIVIL SERVICES EXAMINATION  ·  GS PAPER II  ·  POLITY</a:t>
            </a:r>
            <a:endParaRPr lang="en-US" sz="1200" dirty="0"/>
          </a:p>
        </p:txBody>
      </p:sp>
      <p:sp>
        <p:nvSpPr>
          <p:cNvPr id="4" name="Text 2"/>
          <p:cNvSpPr txBox="1"/>
          <p:nvPr/>
        </p:nvSpPr>
        <p:spPr>
          <a:xfrm>
            <a:off x="566928" y="1828800"/>
            <a:ext cx="11057839" cy="114300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ARTICLE 12</a:t>
            </a:r>
            <a:endParaRPr lang="en-US" sz="6600" dirty="0"/>
          </a:p>
        </p:txBody>
      </p:sp>
      <p:sp>
        <p:nvSpPr>
          <p:cNvPr id="5" name="Text 3"/>
          <p:cNvSpPr txBox="1"/>
          <p:nvPr/>
        </p:nvSpPr>
        <p:spPr>
          <a:xfrm>
            <a:off x="566928" y="2926080"/>
            <a:ext cx="11057839" cy="640080"/>
          </a:xfrm>
          <a:prstGeom prst="rect">
            <a:avLst/>
          </a:prstGeom>
          <a:noFill/>
          <a:ln/>
        </p:spPr>
        <p:txBody>
          <a:bodyPr wrap="square" lIns="0" tIns="0" rIns="0" bIns="0" rtlCol="0" anchor="ctr"/>
          <a:lstStyle/>
          <a:p>
            <a:pPr indent="0" marL="0">
              <a:buNone/>
            </a:pPr>
            <a:r>
              <a:rPr lang="en-US" sz="3200" dirty="0">
                <a:solidFill>
                  <a:srgbClr val="F0D9DA"/>
                </a:solidFill>
                <a:latin typeface="Cambria" pitchFamily="34" charset="0"/>
                <a:ea typeface="Cambria" pitchFamily="34" charset="-122"/>
                <a:cs typeface="Cambria" pitchFamily="34" charset="-120"/>
              </a:rPr>
              <a:t>Definition of “State”</a:t>
            </a:r>
            <a:endParaRPr lang="en-US" sz="3200" dirty="0"/>
          </a:p>
        </p:txBody>
      </p:sp>
      <p:sp>
        <p:nvSpPr>
          <p:cNvPr id="6" name="Shape 4"/>
          <p:cNvSpPr/>
          <p:nvPr/>
        </p:nvSpPr>
        <p:spPr>
          <a:xfrm>
            <a:off x="566928" y="3703320"/>
            <a:ext cx="1828800" cy="32004"/>
          </a:xfrm>
          <a:prstGeom prst="rect">
            <a:avLst/>
          </a:prstGeom>
          <a:solidFill>
            <a:srgbClr val="C9A227"/>
          </a:solidFill>
          <a:ln w="12700">
            <a:solidFill>
              <a:srgbClr val="333333"/>
            </a:solidFill>
            <a:prstDash val="solid"/>
          </a:ln>
        </p:spPr>
      </p:sp>
      <p:sp>
        <p:nvSpPr>
          <p:cNvPr id="7" name="Text 5"/>
          <p:cNvSpPr txBox="1"/>
          <p:nvPr/>
        </p:nvSpPr>
        <p:spPr>
          <a:xfrm>
            <a:off x="566928" y="3950208"/>
            <a:ext cx="11057839" cy="310896"/>
          </a:xfrm>
          <a:prstGeom prst="rect">
            <a:avLst/>
          </a:prstGeom>
          <a:noFill/>
          <a:ln/>
        </p:spPr>
        <p:txBody>
          <a:bodyPr wrap="square" lIns="0" tIns="0" rIns="0" bIns="0" rtlCol="0" anchor="ctr"/>
          <a:lstStyle/>
          <a:p>
            <a:pPr indent="0" marL="0">
              <a:buNone/>
            </a:pPr>
            <a:r>
              <a:rPr lang="en-US" sz="1500" dirty="0">
                <a:solidFill>
                  <a:srgbClr val="E8CFD0"/>
                </a:solidFill>
                <a:latin typeface="Calibri" pitchFamily="34" charset="0"/>
                <a:ea typeface="Calibri" pitchFamily="34" charset="-122"/>
                <a:cs typeface="Calibri" pitchFamily="34" charset="-120"/>
              </a:rPr>
              <a:t>Part III — Fundamental Rights  ·  Articles 12–35</a:t>
            </a:r>
            <a:endParaRPr lang="en-US" sz="1500" dirty="0"/>
          </a:p>
        </p:txBody>
      </p:sp>
      <p:sp>
        <p:nvSpPr>
          <p:cNvPr id="8" name="Text 6"/>
          <p:cNvSpPr txBox="1"/>
          <p:nvPr/>
        </p:nvSpPr>
        <p:spPr>
          <a:xfrm>
            <a:off x="566928" y="4892040"/>
            <a:ext cx="11057839" cy="365760"/>
          </a:xfrm>
          <a:prstGeom prst="rect">
            <a:avLst/>
          </a:prstGeom>
          <a:noFill/>
          <a:ln/>
        </p:spPr>
        <p:txBody>
          <a:bodyPr wrap="square" lIns="0" tIns="0" rIns="0" bIns="0" rtlCol="0" anchor="ctr"/>
          <a:lstStyle/>
          <a:p>
            <a:pPr indent="0" marL="0">
              <a:buNone/>
            </a:pPr>
            <a:r>
              <a:rPr lang="en-US" sz="1700" i="1" dirty="0">
                <a:solidFill>
                  <a:srgbClr val="C9A227"/>
                </a:solidFill>
                <a:latin typeface="Calibri" pitchFamily="34" charset="0"/>
                <a:ea typeface="Calibri" pitchFamily="34" charset="-122"/>
                <a:cs typeface="Calibri" pitchFamily="34" charset="-120"/>
              </a:rPr>
              <a:t>The gatekeeper of Fundamental Rights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02</a:t>
            </a:r>
            <a:endParaRPr lang="en-US" sz="1000" dirty="0"/>
          </a:p>
        </p:txBody>
      </p:sp>
      <p:sp>
        <p:nvSpPr>
          <p:cNvPr id="3" name="Text 1"/>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00" kern="0" dirty="0">
                <a:solidFill>
                  <a:srgbClr val="C9A227"/>
                </a:solidFill>
                <a:latin typeface="Calibri" pitchFamily="34" charset="0"/>
                <a:ea typeface="Calibri" pitchFamily="34" charset="-122"/>
                <a:cs typeface="Calibri" pitchFamily="34" charset="-120"/>
              </a:rPr>
              <a:t>SECTION 1</a:t>
            </a:r>
            <a:endParaRPr lang="en-US" sz="1050" dirty="0"/>
          </a:p>
        </p:txBody>
      </p:sp>
      <p:sp>
        <p:nvSpPr>
          <p:cNvPr id="4" name="Text 2"/>
          <p:cNvSpPr txBox="1"/>
          <p:nvPr/>
        </p:nvSpPr>
        <p:spPr>
          <a:xfrm>
            <a:off x="566928" y="603504"/>
            <a:ext cx="11057839" cy="603504"/>
          </a:xfrm>
          <a:prstGeom prst="rect">
            <a:avLst/>
          </a:prstGeom>
          <a:noFill/>
          <a:ln/>
        </p:spPr>
        <p:txBody>
          <a:bodyPr wrap="square" lIns="0" tIns="0" rIns="0" bIns="0" rtlCol="0" anchor="ctr"/>
          <a:lstStyle/>
          <a:p>
            <a:pPr indent="0" marL="0">
              <a:buNone/>
            </a:pPr>
            <a:r>
              <a:rPr lang="en-US" sz="2900" b="1" dirty="0">
                <a:solidFill>
                  <a:srgbClr val="7B1113"/>
                </a:solidFill>
                <a:latin typeface="Cambria" pitchFamily="34" charset="0"/>
                <a:ea typeface="Cambria" pitchFamily="34" charset="-122"/>
                <a:cs typeface="Cambria" pitchFamily="34" charset="-120"/>
              </a:rPr>
              <a:t>Why Article 12 Decides Everything</a:t>
            </a:r>
            <a:endParaRPr lang="en-US" sz="2900" dirty="0"/>
          </a:p>
        </p:txBody>
      </p:sp>
      <p:sp>
        <p:nvSpPr>
          <p:cNvPr id="5" name="Shape 3"/>
          <p:cNvSpPr/>
          <p:nvPr/>
        </p:nvSpPr>
        <p:spPr>
          <a:xfrm>
            <a:off x="566928" y="1517904"/>
            <a:ext cx="384048" cy="384048"/>
          </a:xfrm>
          <a:prstGeom prst="ellipse">
            <a:avLst/>
          </a:prstGeom>
          <a:solidFill>
            <a:srgbClr val="7B1113"/>
          </a:solidFill>
          <a:ln w="12700">
            <a:solidFill>
              <a:srgbClr val="7B1113"/>
            </a:solidFill>
            <a:prstDash val="solid"/>
          </a:ln>
        </p:spPr>
      </p:sp>
      <p:sp>
        <p:nvSpPr>
          <p:cNvPr id="6" name="Text 4"/>
          <p:cNvSpPr txBox="1"/>
          <p:nvPr/>
        </p:nvSpPr>
        <p:spPr>
          <a:xfrm>
            <a:off x="566928" y="1517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33856" y="1481328"/>
            <a:ext cx="10417759" cy="25603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Fundamental Rights bind the STATE</a:t>
            </a:r>
            <a:endParaRPr lang="en-US" sz="1500" dirty="0"/>
          </a:p>
        </p:txBody>
      </p:sp>
      <p:sp>
        <p:nvSpPr>
          <p:cNvPr id="8" name="Text 6"/>
          <p:cNvSpPr txBox="1"/>
          <p:nvPr/>
        </p:nvSpPr>
        <p:spPr>
          <a:xfrm>
            <a:off x="1133856" y="1737360"/>
            <a:ext cx="10417759" cy="256032"/>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Not private individuals — that is the general rule.</a:t>
            </a:r>
            <a:endParaRPr lang="en-US" sz="1300" dirty="0"/>
          </a:p>
        </p:txBody>
      </p:sp>
      <p:sp>
        <p:nvSpPr>
          <p:cNvPr id="9" name="Shape 7"/>
          <p:cNvSpPr/>
          <p:nvPr/>
        </p:nvSpPr>
        <p:spPr>
          <a:xfrm>
            <a:off x="566928" y="2176272"/>
            <a:ext cx="384048" cy="384048"/>
          </a:xfrm>
          <a:prstGeom prst="ellipse">
            <a:avLst/>
          </a:prstGeom>
          <a:solidFill>
            <a:srgbClr val="7B1113"/>
          </a:solidFill>
          <a:ln w="12700">
            <a:solidFill>
              <a:srgbClr val="7B1113"/>
            </a:solidFill>
            <a:prstDash val="solid"/>
          </a:ln>
        </p:spPr>
      </p:sp>
      <p:sp>
        <p:nvSpPr>
          <p:cNvPr id="10" name="Text 8"/>
          <p:cNvSpPr txBox="1"/>
          <p:nvPr/>
        </p:nvSpPr>
        <p:spPr>
          <a:xfrm>
            <a:off x="566928" y="2176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33856" y="2139696"/>
            <a:ext cx="10417759" cy="25603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So Article 12 answers one question</a:t>
            </a:r>
            <a:endParaRPr lang="en-US" sz="1500" dirty="0"/>
          </a:p>
        </p:txBody>
      </p:sp>
      <p:sp>
        <p:nvSpPr>
          <p:cNvPr id="12" name="Text 10"/>
          <p:cNvSpPr txBox="1"/>
          <p:nvPr/>
        </p:nvSpPr>
        <p:spPr>
          <a:xfrm>
            <a:off x="1133856" y="2395728"/>
            <a:ext cx="10417759" cy="256032"/>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WHOM can you sue for a violation of Fundamental Rights?</a:t>
            </a:r>
            <a:endParaRPr lang="en-US" sz="1300" dirty="0"/>
          </a:p>
        </p:txBody>
      </p:sp>
      <p:sp>
        <p:nvSpPr>
          <p:cNvPr id="13" name="Shape 11"/>
          <p:cNvSpPr/>
          <p:nvPr/>
        </p:nvSpPr>
        <p:spPr>
          <a:xfrm>
            <a:off x="566928" y="2834640"/>
            <a:ext cx="384048" cy="384048"/>
          </a:xfrm>
          <a:prstGeom prst="ellipse">
            <a:avLst/>
          </a:prstGeom>
          <a:solidFill>
            <a:srgbClr val="7B1113"/>
          </a:solidFill>
          <a:ln w="12700">
            <a:solidFill>
              <a:srgbClr val="7B1113"/>
            </a:solidFill>
            <a:prstDash val="solid"/>
          </a:ln>
        </p:spPr>
      </p:sp>
      <p:sp>
        <p:nvSpPr>
          <p:cNvPr id="14" name="Text 12"/>
          <p:cNvSpPr txBox="1"/>
          <p:nvPr/>
        </p:nvSpPr>
        <p:spPr>
          <a:xfrm>
            <a:off x="566928" y="2834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133856" y="2798064"/>
            <a:ext cx="10417759" cy="25603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It fixes the reach of the writs</a:t>
            </a:r>
            <a:endParaRPr lang="en-US" sz="1500" dirty="0"/>
          </a:p>
        </p:txBody>
      </p:sp>
      <p:sp>
        <p:nvSpPr>
          <p:cNvPr id="16" name="Text 14"/>
          <p:cNvSpPr txBox="1"/>
          <p:nvPr/>
        </p:nvSpPr>
        <p:spPr>
          <a:xfrm>
            <a:off x="1133856" y="3054096"/>
            <a:ext cx="10417759" cy="256032"/>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Article 32 (Supreme Court) and, indirectly, Article 226 (High Court).</a:t>
            </a:r>
            <a:endParaRPr lang="en-US" sz="1300" dirty="0"/>
          </a:p>
        </p:txBody>
      </p:sp>
      <p:sp>
        <p:nvSpPr>
          <p:cNvPr id="17" name="Shape 15"/>
          <p:cNvSpPr/>
          <p:nvPr/>
        </p:nvSpPr>
        <p:spPr>
          <a:xfrm>
            <a:off x="566928" y="3493008"/>
            <a:ext cx="384048" cy="384048"/>
          </a:xfrm>
          <a:prstGeom prst="ellipse">
            <a:avLst/>
          </a:prstGeom>
          <a:solidFill>
            <a:srgbClr val="7B1113"/>
          </a:solidFill>
          <a:ln w="12700">
            <a:solidFill>
              <a:srgbClr val="7B1113"/>
            </a:solidFill>
            <a:prstDash val="solid"/>
          </a:ln>
        </p:spPr>
      </p:sp>
      <p:sp>
        <p:nvSpPr>
          <p:cNvPr id="18" name="Text 16"/>
          <p:cNvSpPr txBox="1"/>
          <p:nvPr/>
        </p:nvSpPr>
        <p:spPr>
          <a:xfrm>
            <a:off x="566928" y="34930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133856" y="3456432"/>
            <a:ext cx="10417759" cy="25603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It also governs the DPSP</a:t>
            </a:r>
            <a:endParaRPr lang="en-US" sz="1500" dirty="0"/>
          </a:p>
        </p:txBody>
      </p:sp>
      <p:sp>
        <p:nvSpPr>
          <p:cNvPr id="20" name="Text 18"/>
          <p:cNvSpPr txBox="1"/>
          <p:nvPr/>
        </p:nvSpPr>
        <p:spPr>
          <a:xfrm>
            <a:off x="1133856" y="3712464"/>
            <a:ext cx="10417759" cy="256032"/>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Article 36 — “State” in Part IV carries the SAME meaning as Article 12.</a:t>
            </a:r>
            <a:endParaRPr lang="en-US" sz="1300" dirty="0"/>
          </a:p>
        </p:txBody>
      </p:sp>
      <p:sp>
        <p:nvSpPr>
          <p:cNvPr id="21" name="Shape 19"/>
          <p:cNvSpPr/>
          <p:nvPr/>
        </p:nvSpPr>
        <p:spPr>
          <a:xfrm>
            <a:off x="566928" y="4206240"/>
            <a:ext cx="11057839" cy="1207008"/>
          </a:xfrm>
          <a:prstGeom prst="roundRect">
            <a:avLst>
              <a:gd name="adj" fmla="val 6061"/>
            </a:avLst>
          </a:prstGeom>
          <a:solidFill>
            <a:srgbClr val="EDF1F6"/>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22" name="Text 20"/>
          <p:cNvSpPr txBox="1"/>
          <p:nvPr/>
        </p:nvSpPr>
        <p:spPr>
          <a:xfrm>
            <a:off x="822960" y="4352544"/>
            <a:ext cx="10545775" cy="256032"/>
          </a:xfrm>
          <a:prstGeom prst="rect">
            <a:avLst/>
          </a:prstGeom>
          <a:noFill/>
          <a:ln/>
        </p:spPr>
        <p:txBody>
          <a:bodyPr wrap="square" lIns="0" tIns="0" rIns="0" bIns="0" rtlCol="0" anchor="ctr"/>
          <a:lstStyle/>
          <a:p>
            <a:pPr indent="0" marL="0">
              <a:buNone/>
            </a:pPr>
            <a:r>
              <a:rPr lang="en-US" sz="1200" b="1" spc="150" kern="0" dirty="0">
                <a:solidFill>
                  <a:srgbClr val="7B1113"/>
                </a:solidFill>
                <a:latin typeface="Calibri" pitchFamily="34" charset="0"/>
                <a:ea typeface="Calibri" pitchFamily="34" charset="-122"/>
                <a:cs typeface="Calibri" pitchFamily="34" charset="-120"/>
              </a:rPr>
              <a:t>THE ESCAPE PROBLEM</a:t>
            </a:r>
            <a:endParaRPr lang="en-US" sz="1200" dirty="0"/>
          </a:p>
        </p:txBody>
      </p:sp>
      <p:sp>
        <p:nvSpPr>
          <p:cNvPr id="23" name="Text 21"/>
          <p:cNvSpPr txBox="1"/>
          <p:nvPr/>
        </p:nvSpPr>
        <p:spPr>
          <a:xfrm>
            <a:off x="822960" y="4626864"/>
            <a:ext cx="10545775" cy="658368"/>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If only the Union and the States were bound, the government could violate rights through a corporation it owns and then claim immunity. Article 12 exists to shut that door — the State cannot escape Fundamental Rights by changing its clothes.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03</a:t>
            </a:r>
            <a:endParaRPr lang="en-US" sz="1000" dirty="0"/>
          </a:p>
        </p:txBody>
      </p:sp>
      <p:sp>
        <p:nvSpPr>
          <p:cNvPr id="3" name="Text 1"/>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00" kern="0" dirty="0">
                <a:solidFill>
                  <a:srgbClr val="C9A227"/>
                </a:solidFill>
                <a:latin typeface="Calibri" pitchFamily="34" charset="0"/>
                <a:ea typeface="Calibri" pitchFamily="34" charset="-122"/>
                <a:cs typeface="Calibri" pitchFamily="34" charset="-120"/>
              </a:rPr>
              <a:t>SECTION 2</a:t>
            </a:r>
            <a:endParaRPr lang="en-US" sz="1050" dirty="0"/>
          </a:p>
        </p:txBody>
      </p:sp>
      <p:sp>
        <p:nvSpPr>
          <p:cNvPr id="4" name="Text 2"/>
          <p:cNvSpPr txBox="1"/>
          <p:nvPr/>
        </p:nvSpPr>
        <p:spPr>
          <a:xfrm>
            <a:off x="566928" y="603504"/>
            <a:ext cx="11057839" cy="603504"/>
          </a:xfrm>
          <a:prstGeom prst="rect">
            <a:avLst/>
          </a:prstGeom>
          <a:noFill/>
          <a:ln/>
        </p:spPr>
        <p:txBody>
          <a:bodyPr wrap="square" lIns="0" tIns="0" rIns="0" bIns="0" rtlCol="0" anchor="ctr"/>
          <a:lstStyle/>
          <a:p>
            <a:pPr indent="0" marL="0">
              <a:buNone/>
            </a:pPr>
            <a:r>
              <a:rPr lang="en-US" sz="2900" b="1" dirty="0">
                <a:solidFill>
                  <a:srgbClr val="7B1113"/>
                </a:solidFill>
                <a:latin typeface="Cambria" pitchFamily="34" charset="0"/>
                <a:ea typeface="Cambria" pitchFamily="34" charset="-122"/>
                <a:cs typeface="Cambria" pitchFamily="34" charset="-120"/>
              </a:rPr>
              <a:t>The Provision — Bare Text</a:t>
            </a:r>
            <a:endParaRPr lang="en-US" sz="2900" dirty="0"/>
          </a:p>
        </p:txBody>
      </p:sp>
      <p:sp>
        <p:nvSpPr>
          <p:cNvPr id="5" name="Shape 3"/>
          <p:cNvSpPr/>
          <p:nvPr/>
        </p:nvSpPr>
        <p:spPr>
          <a:xfrm>
            <a:off x="566928" y="1444752"/>
            <a:ext cx="11057839" cy="1481328"/>
          </a:xfrm>
          <a:prstGeom prst="roundRect">
            <a:avLst>
              <a:gd name="adj" fmla="val 4938"/>
            </a:avLst>
          </a:prstGeom>
          <a:solidFill>
            <a:srgbClr val="5A0C0E"/>
          </a:solidFill>
          <a:ln w="12700">
            <a:solidFill>
              <a:srgbClr val="333333"/>
            </a:solidFill>
            <a:prstDash val="solid"/>
          </a:ln>
          <a:effectLst>
            <a:outerShdw sx="100000" sy="100000" kx="0" ky="0" algn="bl" rotWithShape="0" blurRad="127000" dist="25400" dir="5400000">
              <a:srgbClr val="000000">
                <a:alpha val="10000"/>
              </a:srgbClr>
            </a:outerShdw>
          </a:effectLst>
        </p:spPr>
      </p:sp>
      <p:sp>
        <p:nvSpPr>
          <p:cNvPr id="6" name="Text 4"/>
          <p:cNvSpPr txBox="1"/>
          <p:nvPr/>
        </p:nvSpPr>
        <p:spPr>
          <a:xfrm>
            <a:off x="877824" y="1609344"/>
            <a:ext cx="10436047" cy="1152144"/>
          </a:xfrm>
          <a:prstGeom prst="rect">
            <a:avLst/>
          </a:prstGeom>
          <a:noFill/>
          <a:ln/>
        </p:spPr>
        <p:txBody>
          <a:bodyPr wrap="square" lIns="0" tIns="0" rIns="0" bIns="0" rtlCol="0" anchor="ctr"/>
          <a:lstStyle/>
          <a:p>
            <a:pPr indent="0" marL="0">
              <a:lnSpc>
                <a:spcPts val="2400"/>
              </a:lnSpc>
              <a:buNone/>
            </a:pPr>
            <a:r>
              <a:rPr lang="en-US" sz="1500" dirty="0">
                <a:solidFill>
                  <a:srgbClr val="FFFFFF"/>
                </a:solidFill>
                <a:latin typeface="Cambria" pitchFamily="34" charset="0"/>
                <a:ea typeface="Cambria" pitchFamily="34" charset="-122"/>
                <a:cs typeface="Cambria" pitchFamily="34" charset="-120"/>
              </a:rPr>
              <a:t>“In this Part, unless the context otherwise requires, “the State” includes the Government and Parliament of India, the Government and the Legislature of each of the States, and all local or other authorities within the territory of India or under the control of the Government of India.”</a:t>
            </a:r>
            <a:endParaRPr lang="en-US" sz="1500" dirty="0"/>
          </a:p>
        </p:txBody>
      </p:sp>
      <p:sp>
        <p:nvSpPr>
          <p:cNvPr id="7" name="Text 5"/>
          <p:cNvSpPr txBox="1"/>
          <p:nvPr/>
        </p:nvSpPr>
        <p:spPr>
          <a:xfrm>
            <a:off x="566928" y="3127248"/>
            <a:ext cx="11057839" cy="256032"/>
          </a:xfrm>
          <a:prstGeom prst="rect">
            <a:avLst/>
          </a:prstGeom>
          <a:noFill/>
          <a:ln/>
        </p:spPr>
        <p:txBody>
          <a:bodyPr wrap="square" lIns="0" tIns="0" rIns="0" bIns="0" rtlCol="0" anchor="ctr"/>
          <a:lstStyle/>
          <a:p>
            <a:pPr indent="0" marL="0">
              <a:buNone/>
            </a:pPr>
            <a:r>
              <a:rPr lang="en-US" sz="1150" b="1" spc="200" kern="0" dirty="0">
                <a:solidFill>
                  <a:srgbClr val="C9A227"/>
                </a:solidFill>
                <a:latin typeface="Calibri" pitchFamily="34" charset="0"/>
                <a:ea typeface="Calibri" pitchFamily="34" charset="-122"/>
                <a:cs typeface="Calibri" pitchFamily="34" charset="-120"/>
              </a:rPr>
              <a:t>FOUR LIMBS</a:t>
            </a:r>
            <a:endParaRPr lang="en-US" sz="1150" dirty="0"/>
          </a:p>
        </p:txBody>
      </p:sp>
      <p:sp>
        <p:nvSpPr>
          <p:cNvPr id="8" name="Shape 6"/>
          <p:cNvSpPr/>
          <p:nvPr/>
        </p:nvSpPr>
        <p:spPr>
          <a:xfrm>
            <a:off x="566928" y="3438144"/>
            <a:ext cx="2572436" cy="1874520"/>
          </a:xfrm>
          <a:prstGeom prst="roundRect">
            <a:avLst>
              <a:gd name="adj" fmla="val 3902"/>
            </a:avLst>
          </a:prstGeom>
          <a:solidFill>
            <a:srgbClr val="EDF1F6"/>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9" name="Shape 7"/>
          <p:cNvSpPr/>
          <p:nvPr/>
        </p:nvSpPr>
        <p:spPr>
          <a:xfrm>
            <a:off x="786384" y="3648456"/>
            <a:ext cx="347472" cy="347472"/>
          </a:xfrm>
          <a:prstGeom prst="ellipse">
            <a:avLst/>
          </a:prstGeom>
          <a:solidFill>
            <a:srgbClr val="1F3A5F"/>
          </a:solidFill>
          <a:ln w="12700">
            <a:solidFill>
              <a:srgbClr val="1F3A5F"/>
            </a:solidFill>
            <a:prstDash val="solid"/>
          </a:ln>
        </p:spPr>
      </p:sp>
      <p:sp>
        <p:nvSpPr>
          <p:cNvPr id="10" name="Text 8"/>
          <p:cNvSpPr txBox="1"/>
          <p:nvPr/>
        </p:nvSpPr>
        <p:spPr>
          <a:xfrm>
            <a:off x="786384" y="364845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786384" y="4114800"/>
            <a:ext cx="2133524" cy="73152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Government &amp; Parliament</a:t>
            </a:r>
            <a:endParaRPr lang="en-US" sz="1400" dirty="0"/>
          </a:p>
          <a:p>
            <a:pPr indent="0" marL="0">
              <a:buNone/>
            </a:pPr>
            <a:r>
              <a:rPr lang="en-US" sz="1400" b="1" dirty="0">
                <a:solidFill>
                  <a:srgbClr val="1A1A1A"/>
                </a:solidFill>
                <a:latin typeface="Calibri" pitchFamily="34" charset="0"/>
                <a:ea typeface="Calibri" pitchFamily="34" charset="-122"/>
                <a:cs typeface="Calibri" pitchFamily="34" charset="-120"/>
              </a:rPr>
              <a:t>of India</a:t>
            </a:r>
            <a:endParaRPr lang="en-US" sz="1400" dirty="0"/>
          </a:p>
        </p:txBody>
      </p:sp>
      <p:sp>
        <p:nvSpPr>
          <p:cNvPr id="12" name="Text 10"/>
          <p:cNvSpPr txBox="1"/>
          <p:nvPr/>
        </p:nvSpPr>
        <p:spPr>
          <a:xfrm>
            <a:off x="786384" y="4846320"/>
            <a:ext cx="2133524" cy="384048"/>
          </a:xfrm>
          <a:prstGeom prst="rect">
            <a:avLst/>
          </a:prstGeom>
          <a:noFill/>
          <a:ln/>
        </p:spPr>
        <p:txBody>
          <a:bodyPr wrap="square" lIns="0" tIns="0" rIns="0" bIns="0" rtlCol="0" anchor="ctr"/>
          <a:lstStyle/>
          <a:p>
            <a:pPr indent="0" marL="0">
              <a:buNone/>
            </a:pPr>
            <a:r>
              <a:rPr lang="en-US" sz="1150" i="1" dirty="0">
                <a:solidFill>
                  <a:srgbClr val="6B6B6B"/>
                </a:solidFill>
                <a:latin typeface="Calibri" pitchFamily="34" charset="0"/>
                <a:ea typeface="Calibri" pitchFamily="34" charset="-122"/>
                <a:cs typeface="Calibri" pitchFamily="34" charset="-120"/>
              </a:rPr>
              <a:t>Union executive + legislature</a:t>
            </a:r>
            <a:endParaRPr lang="en-US" sz="1150" dirty="0"/>
          </a:p>
        </p:txBody>
      </p:sp>
      <p:sp>
        <p:nvSpPr>
          <p:cNvPr id="13" name="Shape 11"/>
          <p:cNvSpPr/>
          <p:nvPr/>
        </p:nvSpPr>
        <p:spPr>
          <a:xfrm>
            <a:off x="3395396" y="3438144"/>
            <a:ext cx="2572436" cy="1874520"/>
          </a:xfrm>
          <a:prstGeom prst="roundRect">
            <a:avLst>
              <a:gd name="adj" fmla="val 3902"/>
            </a:avLst>
          </a:prstGeom>
          <a:solidFill>
            <a:srgbClr val="EDF1F6"/>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4" name="Shape 12"/>
          <p:cNvSpPr/>
          <p:nvPr/>
        </p:nvSpPr>
        <p:spPr>
          <a:xfrm>
            <a:off x="3614852" y="3648456"/>
            <a:ext cx="347472" cy="347472"/>
          </a:xfrm>
          <a:prstGeom prst="ellipse">
            <a:avLst/>
          </a:prstGeom>
          <a:solidFill>
            <a:srgbClr val="1F3A5F"/>
          </a:solidFill>
          <a:ln w="12700">
            <a:solidFill>
              <a:srgbClr val="1F3A5F"/>
            </a:solidFill>
            <a:prstDash val="solid"/>
          </a:ln>
        </p:spPr>
      </p:sp>
      <p:sp>
        <p:nvSpPr>
          <p:cNvPr id="15" name="Text 13"/>
          <p:cNvSpPr txBox="1"/>
          <p:nvPr/>
        </p:nvSpPr>
        <p:spPr>
          <a:xfrm>
            <a:off x="3614852" y="364845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3614852" y="4114800"/>
            <a:ext cx="2133524" cy="73152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Government &amp; Legislature</a:t>
            </a:r>
            <a:endParaRPr lang="en-US" sz="1400" dirty="0"/>
          </a:p>
          <a:p>
            <a:pPr indent="0" marL="0">
              <a:buNone/>
            </a:pPr>
            <a:r>
              <a:rPr lang="en-US" sz="1400" b="1" dirty="0">
                <a:solidFill>
                  <a:srgbClr val="1A1A1A"/>
                </a:solidFill>
                <a:latin typeface="Calibri" pitchFamily="34" charset="0"/>
                <a:ea typeface="Calibri" pitchFamily="34" charset="-122"/>
                <a:cs typeface="Calibri" pitchFamily="34" charset="-120"/>
              </a:rPr>
              <a:t>of each State</a:t>
            </a:r>
            <a:endParaRPr lang="en-US" sz="1400" dirty="0"/>
          </a:p>
        </p:txBody>
      </p:sp>
      <p:sp>
        <p:nvSpPr>
          <p:cNvPr id="17" name="Text 15"/>
          <p:cNvSpPr txBox="1"/>
          <p:nvPr/>
        </p:nvSpPr>
        <p:spPr>
          <a:xfrm>
            <a:off x="3614852" y="4846320"/>
            <a:ext cx="2133524" cy="384048"/>
          </a:xfrm>
          <a:prstGeom prst="rect">
            <a:avLst/>
          </a:prstGeom>
          <a:noFill/>
          <a:ln/>
        </p:spPr>
        <p:txBody>
          <a:bodyPr wrap="square" lIns="0" tIns="0" rIns="0" bIns="0" rtlCol="0" anchor="ctr"/>
          <a:lstStyle/>
          <a:p>
            <a:pPr indent="0" marL="0">
              <a:buNone/>
            </a:pPr>
            <a:r>
              <a:rPr lang="en-US" sz="1150" i="1" dirty="0">
                <a:solidFill>
                  <a:srgbClr val="6B6B6B"/>
                </a:solidFill>
                <a:latin typeface="Calibri" pitchFamily="34" charset="0"/>
                <a:ea typeface="Calibri" pitchFamily="34" charset="-122"/>
                <a:cs typeface="Calibri" pitchFamily="34" charset="-120"/>
              </a:rPr>
              <a:t>State executive + legislature</a:t>
            </a:r>
            <a:endParaRPr lang="en-US" sz="1150" dirty="0"/>
          </a:p>
        </p:txBody>
      </p:sp>
      <p:sp>
        <p:nvSpPr>
          <p:cNvPr id="18" name="Shape 16"/>
          <p:cNvSpPr/>
          <p:nvPr/>
        </p:nvSpPr>
        <p:spPr>
          <a:xfrm>
            <a:off x="6223864" y="3438144"/>
            <a:ext cx="2572436" cy="1874520"/>
          </a:xfrm>
          <a:prstGeom prst="roundRect">
            <a:avLst>
              <a:gd name="adj" fmla="val 3902"/>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9" name="Shape 17"/>
          <p:cNvSpPr/>
          <p:nvPr/>
        </p:nvSpPr>
        <p:spPr>
          <a:xfrm>
            <a:off x="6443320" y="3648456"/>
            <a:ext cx="347472" cy="347472"/>
          </a:xfrm>
          <a:prstGeom prst="ellipse">
            <a:avLst/>
          </a:prstGeom>
          <a:solidFill>
            <a:srgbClr val="7B1113"/>
          </a:solidFill>
          <a:ln w="12700">
            <a:solidFill>
              <a:srgbClr val="7B1113"/>
            </a:solidFill>
            <a:prstDash val="solid"/>
          </a:ln>
        </p:spPr>
      </p:sp>
      <p:sp>
        <p:nvSpPr>
          <p:cNvPr id="20" name="Text 18"/>
          <p:cNvSpPr txBox="1"/>
          <p:nvPr/>
        </p:nvSpPr>
        <p:spPr>
          <a:xfrm>
            <a:off x="6443320" y="364845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6443320" y="4114800"/>
            <a:ext cx="2133524" cy="73152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All LOCAL</a:t>
            </a:r>
            <a:endParaRPr lang="en-US" sz="1400" dirty="0"/>
          </a:p>
          <a:p>
            <a:pPr indent="0" marL="0">
              <a:buNone/>
            </a:pPr>
            <a:r>
              <a:rPr lang="en-US" sz="1400" b="1" dirty="0">
                <a:solidFill>
                  <a:srgbClr val="1A1A1A"/>
                </a:solidFill>
                <a:latin typeface="Calibri" pitchFamily="34" charset="0"/>
                <a:ea typeface="Calibri" pitchFamily="34" charset="-122"/>
                <a:cs typeface="Calibri" pitchFamily="34" charset="-120"/>
              </a:rPr>
              <a:t>authorities</a:t>
            </a:r>
            <a:endParaRPr lang="en-US" sz="1400" dirty="0"/>
          </a:p>
        </p:txBody>
      </p:sp>
      <p:sp>
        <p:nvSpPr>
          <p:cNvPr id="22" name="Text 20"/>
          <p:cNvSpPr txBox="1"/>
          <p:nvPr/>
        </p:nvSpPr>
        <p:spPr>
          <a:xfrm>
            <a:off x="6443320" y="4846320"/>
            <a:ext cx="2133524" cy="384048"/>
          </a:xfrm>
          <a:prstGeom prst="rect">
            <a:avLst/>
          </a:prstGeom>
          <a:noFill/>
          <a:ln/>
        </p:spPr>
        <p:txBody>
          <a:bodyPr wrap="square" lIns="0" tIns="0" rIns="0" bIns="0" rtlCol="0" anchor="ctr"/>
          <a:lstStyle/>
          <a:p>
            <a:pPr indent="0" marL="0">
              <a:buNone/>
            </a:pPr>
            <a:r>
              <a:rPr lang="en-US" sz="1150" i="1" dirty="0">
                <a:solidFill>
                  <a:srgbClr val="6B6B6B"/>
                </a:solidFill>
                <a:latin typeface="Calibri" pitchFamily="34" charset="0"/>
                <a:ea typeface="Calibri" pitchFamily="34" charset="-122"/>
                <a:cs typeface="Calibri" pitchFamily="34" charset="-120"/>
              </a:rPr>
              <a:t>Test → R.C. Jain (1981)</a:t>
            </a:r>
            <a:endParaRPr lang="en-US" sz="1150" dirty="0"/>
          </a:p>
        </p:txBody>
      </p:sp>
      <p:sp>
        <p:nvSpPr>
          <p:cNvPr id="23" name="Shape 21"/>
          <p:cNvSpPr/>
          <p:nvPr/>
        </p:nvSpPr>
        <p:spPr>
          <a:xfrm>
            <a:off x="9052331" y="3438144"/>
            <a:ext cx="2572436" cy="1874520"/>
          </a:xfrm>
          <a:prstGeom prst="roundRect">
            <a:avLst>
              <a:gd name="adj" fmla="val 3902"/>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24" name="Shape 22"/>
          <p:cNvSpPr/>
          <p:nvPr/>
        </p:nvSpPr>
        <p:spPr>
          <a:xfrm>
            <a:off x="9271787" y="3648456"/>
            <a:ext cx="347472" cy="347472"/>
          </a:xfrm>
          <a:prstGeom prst="ellipse">
            <a:avLst/>
          </a:prstGeom>
          <a:solidFill>
            <a:srgbClr val="7B1113"/>
          </a:solidFill>
          <a:ln w="12700">
            <a:solidFill>
              <a:srgbClr val="7B1113"/>
            </a:solidFill>
            <a:prstDash val="solid"/>
          </a:ln>
        </p:spPr>
      </p:sp>
      <p:sp>
        <p:nvSpPr>
          <p:cNvPr id="25" name="Text 23"/>
          <p:cNvSpPr txBox="1"/>
          <p:nvPr/>
        </p:nvSpPr>
        <p:spPr>
          <a:xfrm>
            <a:off x="9271787" y="364845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9271787" y="4114800"/>
            <a:ext cx="2133524" cy="73152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OTHER</a:t>
            </a:r>
            <a:endParaRPr lang="en-US" sz="1400" dirty="0"/>
          </a:p>
          <a:p>
            <a:pPr indent="0" marL="0">
              <a:buNone/>
            </a:pPr>
            <a:r>
              <a:rPr lang="en-US" sz="1400" b="1" dirty="0">
                <a:solidFill>
                  <a:srgbClr val="1A1A1A"/>
                </a:solidFill>
                <a:latin typeface="Calibri" pitchFamily="34" charset="0"/>
                <a:ea typeface="Calibri" pitchFamily="34" charset="-122"/>
                <a:cs typeface="Calibri" pitchFamily="34" charset="-120"/>
              </a:rPr>
              <a:t>authorities</a:t>
            </a:r>
            <a:endParaRPr lang="en-US" sz="1400" dirty="0"/>
          </a:p>
        </p:txBody>
      </p:sp>
      <p:sp>
        <p:nvSpPr>
          <p:cNvPr id="27" name="Text 25"/>
          <p:cNvSpPr txBox="1"/>
          <p:nvPr/>
        </p:nvSpPr>
        <p:spPr>
          <a:xfrm>
            <a:off x="9271787" y="4846320"/>
            <a:ext cx="2133524" cy="384048"/>
          </a:xfrm>
          <a:prstGeom prst="rect">
            <a:avLst/>
          </a:prstGeom>
          <a:noFill/>
          <a:ln/>
        </p:spPr>
        <p:txBody>
          <a:bodyPr wrap="square" lIns="0" tIns="0" rIns="0" bIns="0" rtlCol="0" anchor="ctr"/>
          <a:lstStyle/>
          <a:p>
            <a:pPr indent="0" marL="0">
              <a:buNone/>
            </a:pPr>
            <a:r>
              <a:rPr lang="en-US" sz="1150" i="1" dirty="0">
                <a:solidFill>
                  <a:srgbClr val="6B6B6B"/>
                </a:solidFill>
                <a:latin typeface="Calibri" pitchFamily="34" charset="0"/>
                <a:ea typeface="Calibri" pitchFamily="34" charset="-122"/>
                <a:cs typeface="Calibri" pitchFamily="34" charset="-120"/>
              </a:rPr>
              <a:t>Test → the 4-phase evolution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04</a:t>
            </a:r>
            <a:endParaRPr lang="en-US" sz="1000" dirty="0"/>
          </a:p>
        </p:txBody>
      </p:sp>
      <p:sp>
        <p:nvSpPr>
          <p:cNvPr id="3" name="Text 1"/>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00" kern="0" dirty="0">
                <a:solidFill>
                  <a:srgbClr val="C9A227"/>
                </a:solidFill>
                <a:latin typeface="Calibri" pitchFamily="34" charset="0"/>
                <a:ea typeface="Calibri" pitchFamily="34" charset="-122"/>
                <a:cs typeface="Calibri" pitchFamily="34" charset="-120"/>
              </a:rPr>
              <a:t>HIGH-YIELD</a:t>
            </a:r>
            <a:endParaRPr lang="en-US" sz="1050" dirty="0"/>
          </a:p>
        </p:txBody>
      </p:sp>
      <p:sp>
        <p:nvSpPr>
          <p:cNvPr id="4" name="Text 2"/>
          <p:cNvSpPr txBox="1"/>
          <p:nvPr/>
        </p:nvSpPr>
        <p:spPr>
          <a:xfrm>
            <a:off x="566928" y="603504"/>
            <a:ext cx="11057839" cy="603504"/>
          </a:xfrm>
          <a:prstGeom prst="rect">
            <a:avLst/>
          </a:prstGeom>
          <a:noFill/>
          <a:ln/>
        </p:spPr>
        <p:txBody>
          <a:bodyPr wrap="square" lIns="0" tIns="0" rIns="0" bIns="0" rtlCol="0" anchor="ctr"/>
          <a:lstStyle/>
          <a:p>
            <a:pPr indent="0" marL="0">
              <a:buNone/>
            </a:pPr>
            <a:r>
              <a:rPr lang="en-US" sz="2900" b="1" dirty="0">
                <a:solidFill>
                  <a:srgbClr val="7B1113"/>
                </a:solidFill>
                <a:latin typeface="Cambria" pitchFamily="34" charset="0"/>
                <a:ea typeface="Cambria" pitchFamily="34" charset="-122"/>
                <a:cs typeface="Cambria" pitchFamily="34" charset="-120"/>
              </a:rPr>
              <a:t>Three Words That Carry Marks</a:t>
            </a:r>
            <a:endParaRPr lang="en-US" sz="2900" dirty="0"/>
          </a:p>
        </p:txBody>
      </p:sp>
      <p:sp>
        <p:nvSpPr>
          <p:cNvPr id="5" name="Text 3"/>
          <p:cNvSpPr txBox="1"/>
          <p:nvPr/>
        </p:nvSpPr>
        <p:spPr>
          <a:xfrm>
            <a:off x="566928" y="1188720"/>
            <a:ext cx="11057839" cy="292608"/>
          </a:xfrm>
          <a:prstGeom prst="rect">
            <a:avLst/>
          </a:prstGeom>
          <a:noFill/>
          <a:ln/>
        </p:spPr>
        <p:txBody>
          <a:bodyPr wrap="square" lIns="0" tIns="0" rIns="0" bIns="0"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Each one is a standard Prelims trap.</a:t>
            </a:r>
            <a:endParaRPr lang="en-US" sz="1300" dirty="0"/>
          </a:p>
        </p:txBody>
      </p:sp>
      <p:sp>
        <p:nvSpPr>
          <p:cNvPr id="6" name="Shape 4"/>
          <p:cNvSpPr/>
          <p:nvPr/>
        </p:nvSpPr>
        <p:spPr>
          <a:xfrm>
            <a:off x="566928" y="1700784"/>
            <a:ext cx="3490874" cy="3968496"/>
          </a:xfrm>
          <a:prstGeom prst="roundRect">
            <a:avLst>
              <a:gd name="adj" fmla="val 2096"/>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7" name="Text 5"/>
          <p:cNvSpPr txBox="1"/>
          <p:nvPr/>
        </p:nvSpPr>
        <p:spPr>
          <a:xfrm>
            <a:off x="804672" y="1883664"/>
            <a:ext cx="3015386" cy="786384"/>
          </a:xfrm>
          <a:prstGeom prst="rect">
            <a:avLst/>
          </a:prstGeom>
          <a:noFill/>
          <a:ln/>
        </p:spPr>
        <p:txBody>
          <a:bodyPr wrap="square" lIns="0" tIns="0" rIns="0" bIns="0" rtlCol="0" anchor="ctr"/>
          <a:lstStyle/>
          <a:p>
            <a:pPr indent="0" marL="0">
              <a:buNone/>
            </a:pPr>
            <a:r>
              <a:rPr lang="en-US" sz="1550" b="1" dirty="0">
                <a:solidFill>
                  <a:srgbClr val="7B1113"/>
                </a:solidFill>
                <a:latin typeface="Cambria" pitchFamily="34" charset="0"/>
                <a:ea typeface="Cambria" pitchFamily="34" charset="-122"/>
                <a:cs typeface="Cambria" pitchFamily="34" charset="-120"/>
              </a:rPr>
              <a:t>“includes”</a:t>
            </a:r>
            <a:endParaRPr lang="en-US" sz="1550" dirty="0"/>
          </a:p>
        </p:txBody>
      </p:sp>
      <p:sp>
        <p:nvSpPr>
          <p:cNvPr id="8" name="Text 6"/>
          <p:cNvSpPr txBox="1"/>
          <p:nvPr/>
        </p:nvSpPr>
        <p:spPr>
          <a:xfrm>
            <a:off x="804672" y="2743200"/>
            <a:ext cx="3015386" cy="54864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The definition is INCLUSIVE, not exhaustive.</a:t>
            </a:r>
            <a:endParaRPr lang="en-US" sz="1400" dirty="0"/>
          </a:p>
        </p:txBody>
      </p:sp>
      <p:sp>
        <p:nvSpPr>
          <p:cNvPr id="9" name="Text 7"/>
          <p:cNvSpPr txBox="1"/>
          <p:nvPr/>
        </p:nvSpPr>
        <p:spPr>
          <a:xfrm>
            <a:off x="804672" y="3246120"/>
            <a:ext cx="3015386" cy="91440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Courts can and do add to it.</a:t>
            </a:r>
            <a:endParaRPr lang="en-US" sz="1250" dirty="0"/>
          </a:p>
        </p:txBody>
      </p:sp>
      <p:sp>
        <p:nvSpPr>
          <p:cNvPr id="10" name="Shape 8"/>
          <p:cNvSpPr/>
          <p:nvPr/>
        </p:nvSpPr>
        <p:spPr>
          <a:xfrm>
            <a:off x="804672" y="4315968"/>
            <a:ext cx="3015386" cy="18288"/>
          </a:xfrm>
          <a:prstGeom prst="rect">
            <a:avLst/>
          </a:prstGeom>
          <a:solidFill>
            <a:srgbClr val="DFD9D9"/>
          </a:solidFill>
          <a:ln w="12700">
            <a:solidFill>
              <a:srgbClr val="333333"/>
            </a:solidFill>
            <a:prstDash val="solid"/>
          </a:ln>
        </p:spPr>
      </p:sp>
      <p:sp>
        <p:nvSpPr>
          <p:cNvPr id="11" name="Text 9"/>
          <p:cNvSpPr txBox="1"/>
          <p:nvPr/>
        </p:nvSpPr>
        <p:spPr>
          <a:xfrm>
            <a:off x="804672" y="4462272"/>
            <a:ext cx="3015386" cy="1005840"/>
          </a:xfrm>
          <a:prstGeom prst="rect">
            <a:avLst/>
          </a:prstGeom>
          <a:noFill/>
          <a:ln/>
        </p:spPr>
        <p:txBody>
          <a:bodyPr wrap="square" lIns="0" tIns="0" rIns="0" bIns="0" rtlCol="0" anchor="ctr"/>
          <a:lstStyle/>
          <a:p>
            <a:pPr indent="0" marL="0">
              <a:buNone/>
            </a:pPr>
            <a:r>
              <a:rPr lang="en-US" sz="1200" i="1" dirty="0">
                <a:solidFill>
                  <a:srgbClr val="B3261E"/>
                </a:solidFill>
                <a:latin typeface="Calibri" pitchFamily="34" charset="0"/>
                <a:ea typeface="Calibri" pitchFamily="34" charset="-122"/>
                <a:cs typeface="Calibri" pitchFamily="34" charset="-120"/>
              </a:rPr>
              <a:t>✗ “Article 12 exhaustively defines the State.”</a:t>
            </a:r>
            <a:endParaRPr lang="en-US" sz="1200" dirty="0"/>
          </a:p>
        </p:txBody>
      </p:sp>
      <p:sp>
        <p:nvSpPr>
          <p:cNvPr id="12" name="Shape 10"/>
          <p:cNvSpPr/>
          <p:nvPr/>
        </p:nvSpPr>
        <p:spPr>
          <a:xfrm>
            <a:off x="4350410" y="1700784"/>
            <a:ext cx="3490874" cy="3968496"/>
          </a:xfrm>
          <a:prstGeom prst="roundRect">
            <a:avLst>
              <a:gd name="adj" fmla="val 2096"/>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3" name="Text 11"/>
          <p:cNvSpPr txBox="1"/>
          <p:nvPr/>
        </p:nvSpPr>
        <p:spPr>
          <a:xfrm>
            <a:off x="4588154" y="1883664"/>
            <a:ext cx="3015386" cy="786384"/>
          </a:xfrm>
          <a:prstGeom prst="rect">
            <a:avLst/>
          </a:prstGeom>
          <a:noFill/>
          <a:ln/>
        </p:spPr>
        <p:txBody>
          <a:bodyPr wrap="square" lIns="0" tIns="0" rIns="0" bIns="0" rtlCol="0" anchor="ctr"/>
          <a:lstStyle/>
          <a:p>
            <a:pPr indent="0" marL="0">
              <a:buNone/>
            </a:pPr>
            <a:r>
              <a:rPr lang="en-US" sz="1550" b="1" dirty="0">
                <a:solidFill>
                  <a:srgbClr val="7B1113"/>
                </a:solidFill>
                <a:latin typeface="Cambria" pitchFamily="34" charset="0"/>
                <a:ea typeface="Cambria" pitchFamily="34" charset="-122"/>
                <a:cs typeface="Cambria" pitchFamily="34" charset="-120"/>
              </a:rPr>
              <a:t>“unless the context</a:t>
            </a:r>
            <a:endParaRPr lang="en-US" sz="1550" dirty="0"/>
          </a:p>
          <a:p>
            <a:pPr indent="0" marL="0">
              <a:buNone/>
            </a:pPr>
            <a:r>
              <a:rPr lang="en-US" sz="1550" b="1" dirty="0">
                <a:solidFill>
                  <a:srgbClr val="7B1113"/>
                </a:solidFill>
                <a:latin typeface="Cambria" pitchFamily="34" charset="0"/>
                <a:ea typeface="Cambria" pitchFamily="34" charset="-122"/>
                <a:cs typeface="Cambria" pitchFamily="34" charset="-120"/>
              </a:rPr>
              <a:t>otherwise requires”</a:t>
            </a:r>
            <a:endParaRPr lang="en-US" sz="1550" dirty="0"/>
          </a:p>
        </p:txBody>
      </p:sp>
      <p:sp>
        <p:nvSpPr>
          <p:cNvPr id="14" name="Text 12"/>
          <p:cNvSpPr txBox="1"/>
          <p:nvPr/>
        </p:nvSpPr>
        <p:spPr>
          <a:xfrm>
            <a:off x="4588154" y="2743200"/>
            <a:ext cx="3015386" cy="54864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Built-in flexibility.</a:t>
            </a:r>
            <a:endParaRPr lang="en-US" sz="1400" dirty="0"/>
          </a:p>
        </p:txBody>
      </p:sp>
      <p:sp>
        <p:nvSpPr>
          <p:cNvPr id="15" name="Text 13"/>
          <p:cNvSpPr txBox="1"/>
          <p:nvPr/>
        </p:nvSpPr>
        <p:spPr>
          <a:xfrm>
            <a:off x="4588154" y="3246120"/>
            <a:ext cx="3015386" cy="91440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The same body may be “State” for one purpose and not another.</a:t>
            </a:r>
            <a:endParaRPr lang="en-US" sz="1250" dirty="0"/>
          </a:p>
        </p:txBody>
      </p:sp>
      <p:sp>
        <p:nvSpPr>
          <p:cNvPr id="16" name="Shape 14"/>
          <p:cNvSpPr/>
          <p:nvPr/>
        </p:nvSpPr>
        <p:spPr>
          <a:xfrm>
            <a:off x="4588154" y="4315968"/>
            <a:ext cx="3015386" cy="18288"/>
          </a:xfrm>
          <a:prstGeom prst="rect">
            <a:avLst/>
          </a:prstGeom>
          <a:solidFill>
            <a:srgbClr val="DFD9D9"/>
          </a:solidFill>
          <a:ln w="12700">
            <a:solidFill>
              <a:srgbClr val="333333"/>
            </a:solidFill>
            <a:prstDash val="solid"/>
          </a:ln>
        </p:spPr>
      </p:sp>
      <p:sp>
        <p:nvSpPr>
          <p:cNvPr id="17" name="Text 15"/>
          <p:cNvSpPr txBox="1"/>
          <p:nvPr/>
        </p:nvSpPr>
        <p:spPr>
          <a:xfrm>
            <a:off x="4588154" y="4462272"/>
            <a:ext cx="3015386" cy="1005840"/>
          </a:xfrm>
          <a:prstGeom prst="rect">
            <a:avLst/>
          </a:prstGeom>
          <a:noFill/>
          <a:ln/>
        </p:spPr>
        <p:txBody>
          <a:bodyPr wrap="square" lIns="0" tIns="0" rIns="0" bIns="0" rtlCol="0" anchor="ctr"/>
          <a:lstStyle/>
          <a:p>
            <a:pPr indent="0" marL="0">
              <a:buNone/>
            </a:pPr>
            <a:r>
              <a:rPr lang="en-US" sz="1200" i="1" dirty="0">
                <a:solidFill>
                  <a:srgbClr val="B3261E"/>
                </a:solidFill>
                <a:latin typeface="Calibri" pitchFamily="34" charset="0"/>
                <a:ea typeface="Calibri" pitchFamily="34" charset="-122"/>
                <a:cs typeface="Calibri" pitchFamily="34" charset="-120"/>
              </a:rPr>
              <a:t>Explains why answers are fact-specific.</a:t>
            </a:r>
            <a:endParaRPr lang="en-US" sz="1200" dirty="0"/>
          </a:p>
        </p:txBody>
      </p:sp>
      <p:sp>
        <p:nvSpPr>
          <p:cNvPr id="18" name="Shape 16"/>
          <p:cNvSpPr/>
          <p:nvPr/>
        </p:nvSpPr>
        <p:spPr>
          <a:xfrm>
            <a:off x="8133893" y="1700784"/>
            <a:ext cx="3490874" cy="3968496"/>
          </a:xfrm>
          <a:prstGeom prst="roundRect">
            <a:avLst>
              <a:gd name="adj" fmla="val 2096"/>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9" name="Text 17"/>
          <p:cNvSpPr txBox="1"/>
          <p:nvPr/>
        </p:nvSpPr>
        <p:spPr>
          <a:xfrm>
            <a:off x="8371637" y="1883664"/>
            <a:ext cx="3015386" cy="786384"/>
          </a:xfrm>
          <a:prstGeom prst="rect">
            <a:avLst/>
          </a:prstGeom>
          <a:noFill/>
          <a:ln/>
        </p:spPr>
        <p:txBody>
          <a:bodyPr wrap="square" lIns="0" tIns="0" rIns="0" bIns="0" rtlCol="0" anchor="ctr"/>
          <a:lstStyle/>
          <a:p>
            <a:pPr indent="0" marL="0">
              <a:buNone/>
            </a:pPr>
            <a:r>
              <a:rPr lang="en-US" sz="1550" b="1" dirty="0">
                <a:solidFill>
                  <a:srgbClr val="7B1113"/>
                </a:solidFill>
                <a:latin typeface="Cambria" pitchFamily="34" charset="0"/>
                <a:ea typeface="Cambria" pitchFamily="34" charset="-122"/>
                <a:cs typeface="Cambria" pitchFamily="34" charset="-120"/>
              </a:rPr>
              <a:t>“…under the control of</a:t>
            </a:r>
            <a:endParaRPr lang="en-US" sz="1550" dirty="0"/>
          </a:p>
          <a:p>
            <a:pPr indent="0" marL="0">
              <a:buNone/>
            </a:pPr>
            <a:r>
              <a:rPr lang="en-US" sz="1550" b="1" dirty="0">
                <a:solidFill>
                  <a:srgbClr val="7B1113"/>
                </a:solidFill>
                <a:latin typeface="Cambria" pitchFamily="34" charset="0"/>
                <a:ea typeface="Cambria" pitchFamily="34" charset="-122"/>
                <a:cs typeface="Cambria" pitchFamily="34" charset="-120"/>
              </a:rPr>
              <a:t>the Government of India”</a:t>
            </a:r>
            <a:endParaRPr lang="en-US" sz="1550" dirty="0"/>
          </a:p>
        </p:txBody>
      </p:sp>
      <p:sp>
        <p:nvSpPr>
          <p:cNvPr id="20" name="Text 18"/>
          <p:cNvSpPr txBox="1"/>
          <p:nvPr/>
        </p:nvSpPr>
        <p:spPr>
          <a:xfrm>
            <a:off x="8371637" y="2743200"/>
            <a:ext cx="3015386" cy="54864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The “OR” is DISJUNCTIVE.</a:t>
            </a:r>
            <a:endParaRPr lang="en-US" sz="1400" dirty="0"/>
          </a:p>
        </p:txBody>
      </p:sp>
      <p:sp>
        <p:nvSpPr>
          <p:cNvPr id="21" name="Text 19"/>
          <p:cNvSpPr txBox="1"/>
          <p:nvPr/>
        </p:nvSpPr>
        <p:spPr>
          <a:xfrm>
            <a:off x="8371637" y="3246120"/>
            <a:ext cx="3015386" cy="91440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A body OUTSIDE India’s territory but under GoI control is STILL “State”.</a:t>
            </a:r>
            <a:endParaRPr lang="en-US" sz="1250" dirty="0"/>
          </a:p>
        </p:txBody>
      </p:sp>
      <p:sp>
        <p:nvSpPr>
          <p:cNvPr id="22" name="Shape 20"/>
          <p:cNvSpPr/>
          <p:nvPr/>
        </p:nvSpPr>
        <p:spPr>
          <a:xfrm>
            <a:off x="8371637" y="4315968"/>
            <a:ext cx="3015386" cy="18288"/>
          </a:xfrm>
          <a:prstGeom prst="rect">
            <a:avLst/>
          </a:prstGeom>
          <a:solidFill>
            <a:srgbClr val="DFD9D9"/>
          </a:solidFill>
          <a:ln w="12700">
            <a:solidFill>
              <a:srgbClr val="333333"/>
            </a:solidFill>
            <a:prstDash val="solid"/>
          </a:ln>
        </p:spPr>
      </p:sp>
      <p:sp>
        <p:nvSpPr>
          <p:cNvPr id="23" name="Text 21"/>
          <p:cNvSpPr txBox="1"/>
          <p:nvPr/>
        </p:nvSpPr>
        <p:spPr>
          <a:xfrm>
            <a:off x="8371637" y="4462272"/>
            <a:ext cx="3015386" cy="1005840"/>
          </a:xfrm>
          <a:prstGeom prst="rect">
            <a:avLst/>
          </a:prstGeom>
          <a:noFill/>
          <a:ln/>
        </p:spPr>
        <p:txBody>
          <a:bodyPr wrap="square" lIns="0" tIns="0" rIns="0" bIns="0" rtlCol="0" anchor="ctr"/>
          <a:lstStyle/>
          <a:p>
            <a:pPr indent="0" marL="0">
              <a:buNone/>
            </a:pPr>
            <a:r>
              <a:rPr lang="en-US" sz="1200" i="1" dirty="0">
                <a:solidFill>
                  <a:srgbClr val="B3261E"/>
                </a:solidFill>
                <a:latin typeface="Calibri" pitchFamily="34" charset="0"/>
                <a:ea typeface="Calibri" pitchFamily="34" charset="-122"/>
                <a:cs typeface="Calibri" pitchFamily="34" charset="-120"/>
              </a:rPr>
              <a:t>✗ “It must be within Indian territory.”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7B1113"/>
        </a:solidFill>
      </p:bgPr>
    </p:bg>
    <p:spTree>
      <p:nvGrpSpPr>
        <p:cNvPr id="1" name=""/>
        <p:cNvGrpSpPr/>
        <p:nvPr/>
      </p:nvGrpSpPr>
      <p:grpSpPr>
        <a:xfrm>
          <a:off x="0" y="0"/>
          <a:ext cx="0" cy="0"/>
          <a:chOff x="0" y="0"/>
          <a:chExt cx="0" cy="0"/>
        </a:xfrm>
      </p:grpSpPr>
      <p:sp>
        <p:nvSpPr>
          <p:cNvPr id="2" name="Text 0"/>
          <p:cNvSpPr txBox="1"/>
          <p:nvPr/>
        </p:nvSpPr>
        <p:spPr>
          <a:xfrm>
            <a:off x="566928" y="868680"/>
            <a:ext cx="11057839" cy="274320"/>
          </a:xfrm>
          <a:prstGeom prst="rect">
            <a:avLst/>
          </a:prstGeom>
          <a:noFill/>
          <a:ln/>
        </p:spPr>
        <p:txBody>
          <a:bodyPr wrap="square" lIns="0" tIns="0" rIns="0" bIns="0" rtlCol="0" anchor="ctr"/>
          <a:lstStyle/>
          <a:p>
            <a:pPr indent="0" marL="0">
              <a:buNone/>
            </a:pPr>
            <a:r>
              <a:rPr lang="en-US" sz="1150" b="1" spc="200" kern="0" dirty="0">
                <a:solidFill>
                  <a:srgbClr val="C9A227"/>
                </a:solidFill>
                <a:latin typeface="Calibri" pitchFamily="34" charset="0"/>
                <a:ea typeface="Calibri" pitchFamily="34" charset="-122"/>
                <a:cs typeface="Calibri" pitchFamily="34" charset="-120"/>
              </a:rPr>
              <a:t>FRAMERS’ INTENT  ·  CONSTITUENT ASSEMBLY, 25 NOVEMBER 1948</a:t>
            </a:r>
            <a:endParaRPr lang="en-US" sz="1150" dirty="0"/>
          </a:p>
        </p:txBody>
      </p:sp>
      <p:sp>
        <p:nvSpPr>
          <p:cNvPr id="3" name="Text 1"/>
          <p:cNvSpPr txBox="1"/>
          <p:nvPr/>
        </p:nvSpPr>
        <p:spPr>
          <a:xfrm>
            <a:off x="457200" y="1078992"/>
            <a:ext cx="1371600" cy="1737360"/>
          </a:xfrm>
          <a:prstGeom prst="rect">
            <a:avLst/>
          </a:prstGeom>
          <a:noFill/>
          <a:ln/>
        </p:spPr>
        <p:txBody>
          <a:bodyPr wrap="square" lIns="0" tIns="0" rIns="0" bIns="0" rtlCol="0" anchor="ctr"/>
          <a:lstStyle/>
          <a:p>
            <a:pPr indent="0" marL="0">
              <a:buNone/>
            </a:pPr>
            <a:r>
              <a:rPr lang="en-US" sz="9600" dirty="0">
                <a:solidFill>
                  <a:srgbClr val="A32C2E"/>
                </a:solidFill>
                <a:latin typeface="Cambria" pitchFamily="34" charset="0"/>
                <a:ea typeface="Cambria" pitchFamily="34" charset="-122"/>
                <a:cs typeface="Cambria" pitchFamily="34" charset="-120"/>
              </a:rPr>
              <a:t>“</a:t>
            </a:r>
            <a:endParaRPr lang="en-US" sz="9600" dirty="0"/>
          </a:p>
        </p:txBody>
      </p:sp>
      <p:sp>
        <p:nvSpPr>
          <p:cNvPr id="4" name="Text 2"/>
          <p:cNvSpPr txBox="1"/>
          <p:nvPr/>
        </p:nvSpPr>
        <p:spPr>
          <a:xfrm>
            <a:off x="1207008" y="1572768"/>
            <a:ext cx="9777679" cy="1737360"/>
          </a:xfrm>
          <a:prstGeom prst="rect">
            <a:avLst/>
          </a:prstGeom>
          <a:noFill/>
          <a:ln/>
        </p:spPr>
        <p:txBody>
          <a:bodyPr wrap="square" lIns="0" tIns="0" rIns="0" bIns="0" rtlCol="0" anchor="ctr"/>
          <a:lstStyle/>
          <a:p>
            <a:pPr indent="0" marL="0">
              <a:lnSpc>
                <a:spcPts val="4000"/>
              </a:lnSpc>
              <a:buNone/>
            </a:pPr>
            <a:r>
              <a:rPr lang="en-US" sz="2700" dirty="0">
                <a:solidFill>
                  <a:srgbClr val="FFFFFF"/>
                </a:solidFill>
                <a:latin typeface="Cambria" pitchFamily="34" charset="0"/>
                <a:ea typeface="Cambria" pitchFamily="34" charset="-122"/>
                <a:cs typeface="Cambria" pitchFamily="34" charset="-120"/>
              </a:rPr>
              <a:t>…every authority which has got either the power to make laws or the power to have discretion vested in it.</a:t>
            </a:r>
            <a:endParaRPr lang="en-US" sz="2700" dirty="0"/>
          </a:p>
        </p:txBody>
      </p:sp>
      <p:sp>
        <p:nvSpPr>
          <p:cNvPr id="5" name="Text 3"/>
          <p:cNvSpPr txBox="1"/>
          <p:nvPr/>
        </p:nvSpPr>
        <p:spPr>
          <a:xfrm>
            <a:off x="1207008" y="3401568"/>
            <a:ext cx="9777679" cy="310896"/>
          </a:xfrm>
          <a:prstGeom prst="rect">
            <a:avLst/>
          </a:prstGeom>
          <a:noFill/>
          <a:ln/>
        </p:spPr>
        <p:txBody>
          <a:bodyPr wrap="square" lIns="0" tIns="0" rIns="0" bIns="0" rtlCol="0" anchor="ctr"/>
          <a:lstStyle/>
          <a:p>
            <a:pPr indent="0" marL="0">
              <a:buNone/>
            </a:pPr>
            <a:r>
              <a:rPr lang="en-US" sz="1400" i="1" dirty="0">
                <a:solidFill>
                  <a:srgbClr val="E8CFD0"/>
                </a:solidFill>
                <a:latin typeface="Calibri" pitchFamily="34" charset="0"/>
                <a:ea typeface="Calibri" pitchFamily="34" charset="-122"/>
                <a:cs typeface="Calibri" pitchFamily="34" charset="-120"/>
              </a:rPr>
              <a:t>— Dr. B. R. Ambedkar, on Draft Article 7</a:t>
            </a:r>
            <a:endParaRPr lang="en-US" sz="1400" dirty="0"/>
          </a:p>
        </p:txBody>
      </p:sp>
      <p:sp>
        <p:nvSpPr>
          <p:cNvPr id="6" name="Shape 4"/>
          <p:cNvSpPr/>
          <p:nvPr/>
        </p:nvSpPr>
        <p:spPr>
          <a:xfrm>
            <a:off x="566928" y="4160520"/>
            <a:ext cx="11057839" cy="1481328"/>
          </a:xfrm>
          <a:prstGeom prst="roundRect">
            <a:avLst>
              <a:gd name="adj" fmla="val 4938"/>
            </a:avLst>
          </a:prstGeom>
          <a:solidFill>
            <a:srgbClr val="5A0C0E"/>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7" name="Text 5"/>
          <p:cNvSpPr txBox="1"/>
          <p:nvPr/>
        </p:nvSpPr>
        <p:spPr>
          <a:xfrm>
            <a:off x="859536" y="4352544"/>
            <a:ext cx="10472623" cy="256032"/>
          </a:xfrm>
          <a:prstGeom prst="rect">
            <a:avLst/>
          </a:prstGeom>
          <a:noFill/>
          <a:ln/>
        </p:spPr>
        <p:txBody>
          <a:bodyPr wrap="square" lIns="0" tIns="0" rIns="0" bIns="0" rtlCol="0" anchor="ctr"/>
          <a:lstStyle/>
          <a:p>
            <a:pPr indent="0" marL="0">
              <a:buNone/>
            </a:pPr>
            <a:r>
              <a:rPr lang="en-US" sz="1150" b="1" spc="150" kern="0" dirty="0">
                <a:solidFill>
                  <a:srgbClr val="C9A227"/>
                </a:solidFill>
                <a:latin typeface="Calibri" pitchFamily="34" charset="0"/>
                <a:ea typeface="Calibri" pitchFamily="34" charset="-122"/>
                <a:cs typeface="Calibri" pitchFamily="34" charset="-120"/>
              </a:rPr>
              <a:t>WHY THIS MATTERS FOR THE EXAM</a:t>
            </a:r>
            <a:endParaRPr lang="en-US" sz="1150" dirty="0"/>
          </a:p>
        </p:txBody>
      </p:sp>
      <p:sp>
        <p:nvSpPr>
          <p:cNvPr id="8" name="Text 6"/>
          <p:cNvSpPr txBox="1"/>
          <p:nvPr/>
        </p:nvSpPr>
        <p:spPr>
          <a:xfrm>
            <a:off x="859536" y="4645152"/>
            <a:ext cx="10472623" cy="84124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The State acts through boards, corporations and licensing authorities. Ambedkar’s line is the intellectual seed of the “instrumentality / agency” doctrine — use it to open a Mains answer.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06</a:t>
            </a:r>
            <a:endParaRPr lang="en-US" sz="1000" dirty="0"/>
          </a:p>
        </p:txBody>
      </p:sp>
      <p:sp>
        <p:nvSpPr>
          <p:cNvPr id="3" name="Text 1"/>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00" kern="0" dirty="0">
                <a:solidFill>
                  <a:srgbClr val="C9A227"/>
                </a:solidFill>
                <a:latin typeface="Calibri" pitchFamily="34" charset="0"/>
                <a:ea typeface="Calibri" pitchFamily="34" charset="-122"/>
                <a:cs typeface="Calibri" pitchFamily="34" charset="-120"/>
              </a:rPr>
              <a:t>ROADMAP</a:t>
            </a:r>
            <a:endParaRPr lang="en-US" sz="1050" dirty="0"/>
          </a:p>
        </p:txBody>
      </p:sp>
      <p:sp>
        <p:nvSpPr>
          <p:cNvPr id="4" name="Text 2"/>
          <p:cNvSpPr txBox="1"/>
          <p:nvPr/>
        </p:nvSpPr>
        <p:spPr>
          <a:xfrm>
            <a:off x="566928" y="603504"/>
            <a:ext cx="11057839" cy="603504"/>
          </a:xfrm>
          <a:prstGeom prst="rect">
            <a:avLst/>
          </a:prstGeom>
          <a:noFill/>
          <a:ln/>
        </p:spPr>
        <p:txBody>
          <a:bodyPr wrap="square" lIns="0" tIns="0" rIns="0" bIns="0" rtlCol="0" anchor="ctr"/>
          <a:lstStyle/>
          <a:p>
            <a:pPr indent="0" marL="0">
              <a:buNone/>
            </a:pPr>
            <a:r>
              <a:rPr lang="en-US" sz="2900" b="1" dirty="0">
                <a:solidFill>
                  <a:srgbClr val="7B1113"/>
                </a:solidFill>
                <a:latin typeface="Cambria" pitchFamily="34" charset="0"/>
                <a:ea typeface="Cambria" pitchFamily="34" charset="-122"/>
                <a:cs typeface="Cambria" pitchFamily="34" charset="-120"/>
              </a:rPr>
              <a:t>Two Branches — Two Different Tests</a:t>
            </a:r>
            <a:endParaRPr lang="en-US" sz="2900" dirty="0"/>
          </a:p>
        </p:txBody>
      </p:sp>
      <p:sp>
        <p:nvSpPr>
          <p:cNvPr id="5" name="Text 3"/>
          <p:cNvSpPr txBox="1"/>
          <p:nvPr/>
        </p:nvSpPr>
        <p:spPr>
          <a:xfrm>
            <a:off x="566928" y="1188720"/>
            <a:ext cx="11057839" cy="292608"/>
          </a:xfrm>
          <a:prstGeom prst="rect">
            <a:avLst/>
          </a:prstGeom>
          <a:noFill/>
          <a:ln/>
        </p:spPr>
        <p:txBody>
          <a:bodyPr wrap="square" lIns="0" tIns="0" rIns="0" bIns="0"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Merging them is the most common mistake in coaching material.</a:t>
            </a:r>
            <a:endParaRPr lang="en-US" sz="1300" dirty="0"/>
          </a:p>
        </p:txBody>
      </p:sp>
      <p:sp>
        <p:nvSpPr>
          <p:cNvPr id="6" name="Shape 4"/>
          <p:cNvSpPr/>
          <p:nvPr/>
        </p:nvSpPr>
        <p:spPr>
          <a:xfrm>
            <a:off x="566928" y="1755648"/>
            <a:ext cx="5346040" cy="3931920"/>
          </a:xfrm>
          <a:prstGeom prst="roundRect">
            <a:avLst>
              <a:gd name="adj" fmla="val 1860"/>
            </a:avLst>
          </a:prstGeom>
          <a:solidFill>
            <a:srgbClr val="EDF1F6"/>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7" name="Text 5"/>
          <p:cNvSpPr txBox="1"/>
          <p:nvPr/>
        </p:nvSpPr>
        <p:spPr>
          <a:xfrm>
            <a:off x="841248" y="1956816"/>
            <a:ext cx="4797400" cy="256032"/>
          </a:xfrm>
          <a:prstGeom prst="rect">
            <a:avLst/>
          </a:prstGeom>
          <a:noFill/>
          <a:ln/>
        </p:spPr>
        <p:txBody>
          <a:bodyPr wrap="square" lIns="0" tIns="0" rIns="0" bIns="0" rtlCol="0" anchor="ctr"/>
          <a:lstStyle/>
          <a:p>
            <a:pPr indent="0" marL="0">
              <a:buNone/>
            </a:pPr>
            <a:r>
              <a:rPr lang="en-US" sz="1150" b="1" spc="200" kern="0" dirty="0">
                <a:solidFill>
                  <a:srgbClr val="1F3A5F"/>
                </a:solidFill>
                <a:latin typeface="Calibri" pitchFamily="34" charset="0"/>
                <a:ea typeface="Calibri" pitchFamily="34" charset="-122"/>
                <a:cs typeface="Calibri" pitchFamily="34" charset="-120"/>
              </a:rPr>
              <a:t>BRANCH 1</a:t>
            </a:r>
            <a:endParaRPr lang="en-US" sz="1150" dirty="0"/>
          </a:p>
        </p:txBody>
      </p:sp>
      <p:sp>
        <p:nvSpPr>
          <p:cNvPr id="8" name="Text 6"/>
          <p:cNvSpPr txBox="1"/>
          <p:nvPr/>
        </p:nvSpPr>
        <p:spPr>
          <a:xfrm>
            <a:off x="841248" y="2231136"/>
            <a:ext cx="4797400" cy="384048"/>
          </a:xfrm>
          <a:prstGeom prst="rect">
            <a:avLst/>
          </a:prstGeom>
          <a:noFill/>
          <a:ln/>
        </p:spPr>
        <p:txBody>
          <a:bodyPr wrap="square" lIns="0" tIns="0" rIns="0" bIns="0" rtlCol="0" anchor="ctr"/>
          <a:lstStyle/>
          <a:p>
            <a:pPr indent="0" marL="0">
              <a:buNone/>
            </a:pPr>
            <a:r>
              <a:rPr lang="en-US" sz="2100" b="1" dirty="0">
                <a:solidFill>
                  <a:srgbClr val="1F3A5F"/>
                </a:solidFill>
                <a:latin typeface="Cambria" pitchFamily="34" charset="0"/>
                <a:ea typeface="Cambria" pitchFamily="34" charset="-122"/>
                <a:cs typeface="Cambria" pitchFamily="34" charset="-120"/>
              </a:rPr>
              <a:t>“LOCAL AUTHORITIES”</a:t>
            </a:r>
            <a:endParaRPr lang="en-US" sz="2100" dirty="0"/>
          </a:p>
        </p:txBody>
      </p:sp>
      <p:sp>
        <p:nvSpPr>
          <p:cNvPr id="9" name="Text 7"/>
          <p:cNvSpPr txBox="1"/>
          <p:nvPr/>
        </p:nvSpPr>
        <p:spPr>
          <a:xfrm>
            <a:off x="841248" y="2688336"/>
            <a:ext cx="4797400" cy="78638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Municipalities · Panchayats · District Boards · Improvement Trusts · Port Commissioners · Development Authorities</a:t>
            </a:r>
            <a:endParaRPr lang="en-US" sz="1250" dirty="0"/>
          </a:p>
        </p:txBody>
      </p:sp>
      <p:sp>
        <p:nvSpPr>
          <p:cNvPr id="10" name="Text 8"/>
          <p:cNvSpPr txBox="1"/>
          <p:nvPr/>
        </p:nvSpPr>
        <p:spPr>
          <a:xfrm>
            <a:off x="841248" y="3584448"/>
            <a:ext cx="4797400" cy="237744"/>
          </a:xfrm>
          <a:prstGeom prst="rect">
            <a:avLst/>
          </a:prstGeom>
          <a:noFill/>
          <a:ln/>
        </p:spPr>
        <p:txBody>
          <a:bodyPr wrap="square" lIns="0" tIns="0" rIns="0" bIns="0" rtlCol="0" anchor="ctr"/>
          <a:lstStyle/>
          <a:p>
            <a:pPr indent="0" marL="0">
              <a:buNone/>
            </a:pPr>
            <a:r>
              <a:rPr lang="en-US" sz="1050" b="1" spc="150" kern="0" dirty="0">
                <a:solidFill>
                  <a:srgbClr val="6B6B6B"/>
                </a:solidFill>
                <a:latin typeface="Calibri" pitchFamily="34" charset="0"/>
                <a:ea typeface="Calibri" pitchFamily="34" charset="-122"/>
                <a:cs typeface="Calibri" pitchFamily="34" charset="-120"/>
              </a:rPr>
              <a:t>THE TEST</a:t>
            </a:r>
            <a:endParaRPr lang="en-US" sz="1050" dirty="0"/>
          </a:p>
        </p:txBody>
      </p:sp>
      <p:sp>
        <p:nvSpPr>
          <p:cNvPr id="11" name="Text 9"/>
          <p:cNvSpPr txBox="1"/>
          <p:nvPr/>
        </p:nvSpPr>
        <p:spPr>
          <a:xfrm>
            <a:off x="841248" y="3840480"/>
            <a:ext cx="4797400" cy="310896"/>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Union of India v. R.C. Jain (1981)</a:t>
            </a:r>
            <a:endParaRPr lang="en-US" sz="1500" dirty="0"/>
          </a:p>
        </p:txBody>
      </p:sp>
      <p:sp>
        <p:nvSpPr>
          <p:cNvPr id="12" name="Text 10"/>
          <p:cNvSpPr txBox="1"/>
          <p:nvPr/>
        </p:nvSpPr>
        <p:spPr>
          <a:xfrm>
            <a:off x="841248" y="4187952"/>
            <a:ext cx="4797400" cy="310896"/>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  L A A F S  —  five attributes</a:t>
            </a:r>
            <a:endParaRPr lang="en-US" sz="1400" dirty="0"/>
          </a:p>
        </p:txBody>
      </p:sp>
      <p:sp>
        <p:nvSpPr>
          <p:cNvPr id="13" name="Text 11"/>
          <p:cNvSpPr txBox="1"/>
          <p:nvPr/>
        </p:nvSpPr>
        <p:spPr>
          <a:xfrm>
            <a:off x="841248" y="4590288"/>
            <a:ext cx="4797400" cy="73152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Anchored in S. 3(31), General Clauses Act 1897, imported by Article 367(1).</a:t>
            </a:r>
            <a:endParaRPr lang="en-US" sz="1200" dirty="0"/>
          </a:p>
        </p:txBody>
      </p:sp>
      <p:sp>
        <p:nvSpPr>
          <p:cNvPr id="14" name="Shape 12"/>
          <p:cNvSpPr/>
          <p:nvPr/>
        </p:nvSpPr>
        <p:spPr>
          <a:xfrm>
            <a:off x="6278728" y="1755648"/>
            <a:ext cx="5346040" cy="3931920"/>
          </a:xfrm>
          <a:prstGeom prst="roundRect">
            <a:avLst>
              <a:gd name="adj" fmla="val 1860"/>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5" name="Text 13"/>
          <p:cNvSpPr txBox="1"/>
          <p:nvPr/>
        </p:nvSpPr>
        <p:spPr>
          <a:xfrm>
            <a:off x="6553048" y="1956816"/>
            <a:ext cx="4797400" cy="256032"/>
          </a:xfrm>
          <a:prstGeom prst="rect">
            <a:avLst/>
          </a:prstGeom>
          <a:noFill/>
          <a:ln/>
        </p:spPr>
        <p:txBody>
          <a:bodyPr wrap="square" lIns="0" tIns="0" rIns="0" bIns="0" rtlCol="0" anchor="ctr"/>
          <a:lstStyle/>
          <a:p>
            <a:pPr indent="0" marL="0">
              <a:buNone/>
            </a:pPr>
            <a:r>
              <a:rPr lang="en-US" sz="1150" b="1" spc="200" kern="0" dirty="0">
                <a:solidFill>
                  <a:srgbClr val="7B1113"/>
                </a:solidFill>
                <a:latin typeface="Calibri" pitchFamily="34" charset="0"/>
                <a:ea typeface="Calibri" pitchFamily="34" charset="-122"/>
                <a:cs typeface="Calibri" pitchFamily="34" charset="-120"/>
              </a:rPr>
              <a:t>BRANCH 2</a:t>
            </a:r>
            <a:endParaRPr lang="en-US" sz="1150" dirty="0"/>
          </a:p>
        </p:txBody>
      </p:sp>
      <p:sp>
        <p:nvSpPr>
          <p:cNvPr id="16" name="Text 14"/>
          <p:cNvSpPr txBox="1"/>
          <p:nvPr/>
        </p:nvSpPr>
        <p:spPr>
          <a:xfrm>
            <a:off x="6553048" y="2231136"/>
            <a:ext cx="4797400" cy="384048"/>
          </a:xfrm>
          <a:prstGeom prst="rect">
            <a:avLst/>
          </a:prstGeom>
          <a:noFill/>
          <a:ln/>
        </p:spPr>
        <p:txBody>
          <a:bodyPr wrap="square" lIns="0" tIns="0" rIns="0" bIns="0" rtlCol="0" anchor="ctr"/>
          <a:lstStyle/>
          <a:p>
            <a:pPr indent="0" marL="0">
              <a:buNone/>
            </a:pPr>
            <a:r>
              <a:rPr lang="en-US" sz="2100" b="1" dirty="0">
                <a:solidFill>
                  <a:srgbClr val="7B1113"/>
                </a:solidFill>
                <a:latin typeface="Cambria" pitchFamily="34" charset="0"/>
                <a:ea typeface="Cambria" pitchFamily="34" charset="-122"/>
                <a:cs typeface="Cambria" pitchFamily="34" charset="-120"/>
              </a:rPr>
              <a:t>“OTHER AUTHORITIES”</a:t>
            </a:r>
            <a:endParaRPr lang="en-US" sz="2100" dirty="0"/>
          </a:p>
        </p:txBody>
      </p:sp>
      <p:sp>
        <p:nvSpPr>
          <p:cNvPr id="17" name="Text 15"/>
          <p:cNvSpPr txBox="1"/>
          <p:nvPr/>
        </p:nvSpPr>
        <p:spPr>
          <a:xfrm>
            <a:off x="6553048" y="2688336"/>
            <a:ext cx="4797400" cy="78638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Statutory corporations · PSUs · government companies · societies · even private bodies acting as a front for the State</a:t>
            </a:r>
            <a:endParaRPr lang="en-US" sz="1250" dirty="0"/>
          </a:p>
        </p:txBody>
      </p:sp>
      <p:sp>
        <p:nvSpPr>
          <p:cNvPr id="18" name="Text 16"/>
          <p:cNvSpPr txBox="1"/>
          <p:nvPr/>
        </p:nvSpPr>
        <p:spPr>
          <a:xfrm>
            <a:off x="6553048" y="3584448"/>
            <a:ext cx="4797400" cy="237744"/>
          </a:xfrm>
          <a:prstGeom prst="rect">
            <a:avLst/>
          </a:prstGeom>
          <a:noFill/>
          <a:ln/>
        </p:spPr>
        <p:txBody>
          <a:bodyPr wrap="square" lIns="0" tIns="0" rIns="0" bIns="0" rtlCol="0" anchor="ctr"/>
          <a:lstStyle/>
          <a:p>
            <a:pPr indent="0" marL="0">
              <a:buNone/>
            </a:pPr>
            <a:r>
              <a:rPr lang="en-US" sz="1050" b="1" spc="150" kern="0" dirty="0">
                <a:solidFill>
                  <a:srgbClr val="6B6B6B"/>
                </a:solidFill>
                <a:latin typeface="Calibri" pitchFamily="34" charset="0"/>
                <a:ea typeface="Calibri" pitchFamily="34" charset="-122"/>
                <a:cs typeface="Calibri" pitchFamily="34" charset="-120"/>
              </a:rPr>
              <a:t>THE TESTS — FOUR PHASES</a:t>
            </a:r>
            <a:endParaRPr lang="en-US" sz="1050" dirty="0"/>
          </a:p>
        </p:txBody>
      </p:sp>
      <p:sp>
        <p:nvSpPr>
          <p:cNvPr id="19" name="Text 17"/>
          <p:cNvSpPr txBox="1"/>
          <p:nvPr/>
        </p:nvSpPr>
        <p:spPr>
          <a:xfrm>
            <a:off x="6553048" y="3840480"/>
            <a:ext cx="4797400" cy="64008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Rajasthan SEB (1967)  →  Ajay Hasia (1981)  →  Pradeep Kumar Biswas (2002)</a:t>
            </a:r>
            <a:endParaRPr lang="en-US" sz="1400" dirty="0"/>
          </a:p>
        </p:txBody>
      </p:sp>
      <p:sp>
        <p:nvSpPr>
          <p:cNvPr id="20" name="Text 18"/>
          <p:cNvSpPr txBox="1"/>
          <p:nvPr/>
        </p:nvSpPr>
        <p:spPr>
          <a:xfrm>
            <a:off x="6553048" y="4590288"/>
            <a:ext cx="4797400" cy="73152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Open-ended and judicially evolved — this is where the exam questions come from.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07</a:t>
            </a:r>
            <a:endParaRPr lang="en-US" sz="1000" dirty="0"/>
          </a:p>
        </p:txBody>
      </p:sp>
      <p:sp>
        <p:nvSpPr>
          <p:cNvPr id="3" name="Text 1"/>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00" kern="0" dirty="0">
                <a:solidFill>
                  <a:srgbClr val="C9A227"/>
                </a:solidFill>
                <a:latin typeface="Calibri" pitchFamily="34" charset="0"/>
                <a:ea typeface="Calibri" pitchFamily="34" charset="-122"/>
                <a:cs typeface="Calibri" pitchFamily="34" charset="-120"/>
              </a:rPr>
              <a:t>BRANCH 1</a:t>
            </a:r>
            <a:endParaRPr lang="en-US" sz="1050" dirty="0"/>
          </a:p>
        </p:txBody>
      </p:sp>
      <p:sp>
        <p:nvSpPr>
          <p:cNvPr id="4" name="Text 2"/>
          <p:cNvSpPr txBox="1"/>
          <p:nvPr/>
        </p:nvSpPr>
        <p:spPr>
          <a:xfrm>
            <a:off x="566928" y="603504"/>
            <a:ext cx="11057839" cy="603504"/>
          </a:xfrm>
          <a:prstGeom prst="rect">
            <a:avLst/>
          </a:prstGeom>
          <a:noFill/>
          <a:ln/>
        </p:spPr>
        <p:txBody>
          <a:bodyPr wrap="square" lIns="0" tIns="0" rIns="0" bIns="0" rtlCol="0" anchor="ctr"/>
          <a:lstStyle/>
          <a:p>
            <a:pPr indent="0" marL="0">
              <a:buNone/>
            </a:pPr>
            <a:r>
              <a:rPr lang="en-US" sz="2900" b="1" dirty="0">
                <a:solidFill>
                  <a:srgbClr val="7B1113"/>
                </a:solidFill>
                <a:latin typeface="Cambria" pitchFamily="34" charset="0"/>
                <a:ea typeface="Cambria" pitchFamily="34" charset="-122"/>
                <a:cs typeface="Cambria" pitchFamily="34" charset="-120"/>
              </a:rPr>
              <a:t>Local Authorities — the R.C. Jain Test</a:t>
            </a:r>
            <a:endParaRPr lang="en-US" sz="2900" dirty="0"/>
          </a:p>
        </p:txBody>
      </p:sp>
      <p:sp>
        <p:nvSpPr>
          <p:cNvPr id="5" name="Text 3"/>
          <p:cNvSpPr txBox="1"/>
          <p:nvPr/>
        </p:nvSpPr>
        <p:spPr>
          <a:xfrm>
            <a:off x="566928" y="1188720"/>
            <a:ext cx="11057839" cy="292608"/>
          </a:xfrm>
          <a:prstGeom prst="rect">
            <a:avLst/>
          </a:prstGeom>
          <a:noFill/>
          <a:ln/>
        </p:spPr>
        <p:txBody>
          <a:bodyPr wrap="square" lIns="0" tIns="0" rIns="0" bIns="0"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Union of India v. R.C. Jain (1981), the DDA case — five attributes, mnemonic L A A F S.</a:t>
            </a:r>
            <a:endParaRPr lang="en-US" sz="1300" dirty="0"/>
          </a:p>
        </p:txBody>
      </p:sp>
      <p:sp>
        <p:nvSpPr>
          <p:cNvPr id="6" name="Shape 4"/>
          <p:cNvSpPr/>
          <p:nvPr/>
        </p:nvSpPr>
        <p:spPr>
          <a:xfrm>
            <a:off x="566928" y="1737360"/>
            <a:ext cx="11057839" cy="731520"/>
          </a:xfrm>
          <a:prstGeom prst="roundRect">
            <a:avLst>
              <a:gd name="adj" fmla="val 7500"/>
            </a:avLst>
          </a:prstGeom>
          <a:solidFill>
            <a:srgbClr val="EDF1F6"/>
          </a:solidFill>
          <a:ln w="9525">
            <a:solidFill>
              <a:srgbClr val="DFD9D9"/>
            </a:solidFill>
            <a:prstDash val="solid"/>
          </a:ln>
        </p:spPr>
      </p:sp>
      <p:sp>
        <p:nvSpPr>
          <p:cNvPr id="7" name="Shape 5"/>
          <p:cNvSpPr/>
          <p:nvPr/>
        </p:nvSpPr>
        <p:spPr>
          <a:xfrm>
            <a:off x="713232" y="1883664"/>
            <a:ext cx="438912" cy="438912"/>
          </a:xfrm>
          <a:prstGeom prst="roundRect">
            <a:avLst>
              <a:gd name="adj" fmla="val 12500"/>
            </a:avLst>
          </a:prstGeom>
          <a:solidFill>
            <a:srgbClr val="1F3A5F"/>
          </a:solidFill>
          <a:ln w="12700">
            <a:solidFill>
              <a:srgbClr val="333333"/>
            </a:solidFill>
            <a:prstDash val="solid"/>
          </a:ln>
        </p:spPr>
      </p:sp>
      <p:sp>
        <p:nvSpPr>
          <p:cNvPr id="8" name="Text 6"/>
          <p:cNvSpPr txBox="1"/>
          <p:nvPr/>
        </p:nvSpPr>
        <p:spPr>
          <a:xfrm>
            <a:off x="713232" y="1883664"/>
            <a:ext cx="438912" cy="43891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L</a:t>
            </a:r>
            <a:endParaRPr lang="en-US" sz="2000" dirty="0"/>
          </a:p>
        </p:txBody>
      </p:sp>
      <p:sp>
        <p:nvSpPr>
          <p:cNvPr id="9" name="Text 7"/>
          <p:cNvSpPr txBox="1"/>
          <p:nvPr/>
        </p:nvSpPr>
        <p:spPr>
          <a:xfrm>
            <a:off x="1316736" y="1828800"/>
            <a:ext cx="5394960" cy="292608"/>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Separate LEGAL existence</a:t>
            </a:r>
            <a:endParaRPr lang="en-US" sz="1400" dirty="0"/>
          </a:p>
        </p:txBody>
      </p:sp>
      <p:sp>
        <p:nvSpPr>
          <p:cNvPr id="10" name="Text 8"/>
          <p:cNvSpPr txBox="1"/>
          <p:nvPr/>
        </p:nvSpPr>
        <p:spPr>
          <a:xfrm>
            <a:off x="1316736" y="2103120"/>
            <a:ext cx="10143439" cy="310896"/>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A body corporate — not a mere government agency or department.</a:t>
            </a:r>
            <a:endParaRPr lang="en-US" sz="1250" dirty="0"/>
          </a:p>
        </p:txBody>
      </p:sp>
      <p:sp>
        <p:nvSpPr>
          <p:cNvPr id="11" name="Shape 9"/>
          <p:cNvSpPr/>
          <p:nvPr/>
        </p:nvSpPr>
        <p:spPr>
          <a:xfrm>
            <a:off x="566928" y="2560320"/>
            <a:ext cx="11057839" cy="731520"/>
          </a:xfrm>
          <a:prstGeom prst="roundRect">
            <a:avLst>
              <a:gd name="adj" fmla="val 7500"/>
            </a:avLst>
          </a:prstGeom>
          <a:solidFill>
            <a:srgbClr val="EDF1F6"/>
          </a:solidFill>
          <a:ln w="9525">
            <a:solidFill>
              <a:srgbClr val="DFD9D9"/>
            </a:solidFill>
            <a:prstDash val="solid"/>
          </a:ln>
        </p:spPr>
      </p:sp>
      <p:sp>
        <p:nvSpPr>
          <p:cNvPr id="12" name="Shape 10"/>
          <p:cNvSpPr/>
          <p:nvPr/>
        </p:nvSpPr>
        <p:spPr>
          <a:xfrm>
            <a:off x="713232" y="2706624"/>
            <a:ext cx="438912" cy="438912"/>
          </a:xfrm>
          <a:prstGeom prst="roundRect">
            <a:avLst>
              <a:gd name="adj" fmla="val 12500"/>
            </a:avLst>
          </a:prstGeom>
          <a:solidFill>
            <a:srgbClr val="1F3A5F"/>
          </a:solidFill>
          <a:ln w="12700">
            <a:solidFill>
              <a:srgbClr val="333333"/>
            </a:solidFill>
            <a:prstDash val="solid"/>
          </a:ln>
        </p:spPr>
      </p:sp>
      <p:sp>
        <p:nvSpPr>
          <p:cNvPr id="13" name="Text 11"/>
          <p:cNvSpPr txBox="1"/>
          <p:nvPr/>
        </p:nvSpPr>
        <p:spPr>
          <a:xfrm>
            <a:off x="713232" y="2706624"/>
            <a:ext cx="438912" cy="43891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14" name="Text 12"/>
          <p:cNvSpPr txBox="1"/>
          <p:nvPr/>
        </p:nvSpPr>
        <p:spPr>
          <a:xfrm>
            <a:off x="1316736" y="2651760"/>
            <a:ext cx="5394960" cy="292608"/>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Functions in a defined AREA</a:t>
            </a:r>
            <a:endParaRPr lang="en-US" sz="1400" dirty="0"/>
          </a:p>
        </p:txBody>
      </p:sp>
      <p:sp>
        <p:nvSpPr>
          <p:cNvPr id="15" name="Text 13"/>
          <p:cNvSpPr txBox="1"/>
          <p:nvPr/>
        </p:nvSpPr>
        <p:spPr>
          <a:xfrm>
            <a:off x="1316736" y="2926080"/>
            <a:ext cx="10143439" cy="310896"/>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“…and ordinarily, wholly or partly, directly or indirectly, elected by the inhabitants.”</a:t>
            </a:r>
            <a:endParaRPr lang="en-US" sz="1250" dirty="0"/>
          </a:p>
        </p:txBody>
      </p:sp>
      <p:sp>
        <p:nvSpPr>
          <p:cNvPr id="16" name="Shape 14"/>
          <p:cNvSpPr/>
          <p:nvPr/>
        </p:nvSpPr>
        <p:spPr>
          <a:xfrm>
            <a:off x="566928" y="3383280"/>
            <a:ext cx="11057839" cy="731520"/>
          </a:xfrm>
          <a:prstGeom prst="roundRect">
            <a:avLst>
              <a:gd name="adj" fmla="val 7500"/>
            </a:avLst>
          </a:prstGeom>
          <a:solidFill>
            <a:srgbClr val="EDF1F6"/>
          </a:solidFill>
          <a:ln w="9525">
            <a:solidFill>
              <a:srgbClr val="DFD9D9"/>
            </a:solidFill>
            <a:prstDash val="solid"/>
          </a:ln>
        </p:spPr>
      </p:sp>
      <p:sp>
        <p:nvSpPr>
          <p:cNvPr id="17" name="Shape 15"/>
          <p:cNvSpPr/>
          <p:nvPr/>
        </p:nvSpPr>
        <p:spPr>
          <a:xfrm>
            <a:off x="713232" y="3529584"/>
            <a:ext cx="438912" cy="438912"/>
          </a:xfrm>
          <a:prstGeom prst="roundRect">
            <a:avLst>
              <a:gd name="adj" fmla="val 12500"/>
            </a:avLst>
          </a:prstGeom>
          <a:solidFill>
            <a:srgbClr val="1F3A5F"/>
          </a:solidFill>
          <a:ln w="12700">
            <a:solidFill>
              <a:srgbClr val="333333"/>
            </a:solidFill>
            <a:prstDash val="solid"/>
          </a:ln>
        </p:spPr>
      </p:sp>
      <p:sp>
        <p:nvSpPr>
          <p:cNvPr id="18" name="Text 16"/>
          <p:cNvSpPr txBox="1"/>
          <p:nvPr/>
        </p:nvSpPr>
        <p:spPr>
          <a:xfrm>
            <a:off x="713232" y="3529584"/>
            <a:ext cx="438912" cy="43891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19" name="Text 17"/>
          <p:cNvSpPr txBox="1"/>
          <p:nvPr/>
        </p:nvSpPr>
        <p:spPr>
          <a:xfrm>
            <a:off x="1316736" y="3474720"/>
            <a:ext cx="5394960" cy="292608"/>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Degree of AUTONOMY</a:t>
            </a:r>
            <a:endParaRPr lang="en-US" sz="1400" dirty="0"/>
          </a:p>
        </p:txBody>
      </p:sp>
      <p:sp>
        <p:nvSpPr>
          <p:cNvPr id="20" name="Text 18"/>
          <p:cNvSpPr txBox="1"/>
          <p:nvPr/>
        </p:nvSpPr>
        <p:spPr>
          <a:xfrm>
            <a:off x="1316736" y="3749040"/>
            <a:ext cx="10143439" cy="310896"/>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An “appreciable measure” — freedom to decide policy. Need not be complete.</a:t>
            </a:r>
            <a:endParaRPr lang="en-US" sz="1250" dirty="0"/>
          </a:p>
        </p:txBody>
      </p:sp>
      <p:sp>
        <p:nvSpPr>
          <p:cNvPr id="21" name="Shape 19"/>
          <p:cNvSpPr/>
          <p:nvPr/>
        </p:nvSpPr>
        <p:spPr>
          <a:xfrm>
            <a:off x="566928" y="4206240"/>
            <a:ext cx="11057839" cy="731520"/>
          </a:xfrm>
          <a:prstGeom prst="roundRect">
            <a:avLst>
              <a:gd name="adj" fmla="val 7500"/>
            </a:avLst>
          </a:prstGeom>
          <a:solidFill>
            <a:srgbClr val="EDF1F6"/>
          </a:solidFill>
          <a:ln w="9525">
            <a:solidFill>
              <a:srgbClr val="DFD9D9"/>
            </a:solidFill>
            <a:prstDash val="solid"/>
          </a:ln>
        </p:spPr>
      </p:sp>
      <p:sp>
        <p:nvSpPr>
          <p:cNvPr id="22" name="Shape 20"/>
          <p:cNvSpPr/>
          <p:nvPr/>
        </p:nvSpPr>
        <p:spPr>
          <a:xfrm>
            <a:off x="713232" y="4352544"/>
            <a:ext cx="438912" cy="438912"/>
          </a:xfrm>
          <a:prstGeom prst="roundRect">
            <a:avLst>
              <a:gd name="adj" fmla="val 12500"/>
            </a:avLst>
          </a:prstGeom>
          <a:solidFill>
            <a:srgbClr val="1F3A5F"/>
          </a:solidFill>
          <a:ln w="12700">
            <a:solidFill>
              <a:srgbClr val="333333"/>
            </a:solidFill>
            <a:prstDash val="solid"/>
          </a:ln>
        </p:spPr>
      </p:sp>
      <p:sp>
        <p:nvSpPr>
          <p:cNvPr id="23" name="Text 21"/>
          <p:cNvSpPr txBox="1"/>
          <p:nvPr/>
        </p:nvSpPr>
        <p:spPr>
          <a:xfrm>
            <a:off x="713232" y="4352544"/>
            <a:ext cx="438912" cy="43891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F</a:t>
            </a:r>
            <a:endParaRPr lang="en-US" sz="2000" dirty="0"/>
          </a:p>
        </p:txBody>
      </p:sp>
      <p:sp>
        <p:nvSpPr>
          <p:cNvPr id="24" name="Text 22"/>
          <p:cNvSpPr txBox="1"/>
          <p:nvPr/>
        </p:nvSpPr>
        <p:spPr>
          <a:xfrm>
            <a:off x="1316736" y="4297680"/>
            <a:ext cx="5394960" cy="292608"/>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Power to raise FUNDS</a:t>
            </a:r>
            <a:endParaRPr lang="en-US" sz="1400" dirty="0"/>
          </a:p>
        </p:txBody>
      </p:sp>
      <p:sp>
        <p:nvSpPr>
          <p:cNvPr id="25" name="Text 23"/>
          <p:cNvSpPr txBox="1"/>
          <p:nvPr/>
        </p:nvSpPr>
        <p:spPr>
          <a:xfrm>
            <a:off x="1316736" y="4572000"/>
            <a:ext cx="10143439" cy="310896"/>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Taxes, rates, charges, fees. Control of the fund must vest in the authority itself.</a:t>
            </a:r>
            <a:endParaRPr lang="en-US" sz="1250" dirty="0"/>
          </a:p>
        </p:txBody>
      </p:sp>
      <p:sp>
        <p:nvSpPr>
          <p:cNvPr id="26" name="Shape 24"/>
          <p:cNvSpPr/>
          <p:nvPr/>
        </p:nvSpPr>
        <p:spPr>
          <a:xfrm>
            <a:off x="566928" y="5029200"/>
            <a:ext cx="11057839" cy="731520"/>
          </a:xfrm>
          <a:prstGeom prst="roundRect">
            <a:avLst>
              <a:gd name="adj" fmla="val 7500"/>
            </a:avLst>
          </a:prstGeom>
          <a:solidFill>
            <a:srgbClr val="EDF1F6"/>
          </a:solidFill>
          <a:ln w="9525">
            <a:solidFill>
              <a:srgbClr val="DFD9D9"/>
            </a:solidFill>
            <a:prstDash val="solid"/>
          </a:ln>
        </p:spPr>
      </p:sp>
      <p:sp>
        <p:nvSpPr>
          <p:cNvPr id="27" name="Shape 25"/>
          <p:cNvSpPr/>
          <p:nvPr/>
        </p:nvSpPr>
        <p:spPr>
          <a:xfrm>
            <a:off x="713232" y="5175504"/>
            <a:ext cx="438912" cy="438912"/>
          </a:xfrm>
          <a:prstGeom prst="roundRect">
            <a:avLst>
              <a:gd name="adj" fmla="val 12500"/>
            </a:avLst>
          </a:prstGeom>
          <a:solidFill>
            <a:srgbClr val="1F3A5F"/>
          </a:solidFill>
          <a:ln w="12700">
            <a:solidFill>
              <a:srgbClr val="333333"/>
            </a:solidFill>
            <a:prstDash val="solid"/>
          </a:ln>
        </p:spPr>
      </p:sp>
      <p:sp>
        <p:nvSpPr>
          <p:cNvPr id="28" name="Text 26"/>
          <p:cNvSpPr txBox="1"/>
          <p:nvPr/>
        </p:nvSpPr>
        <p:spPr>
          <a:xfrm>
            <a:off x="713232" y="5175504"/>
            <a:ext cx="438912" cy="43891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S</a:t>
            </a:r>
            <a:endParaRPr lang="en-US" sz="2000" dirty="0"/>
          </a:p>
        </p:txBody>
      </p:sp>
      <p:sp>
        <p:nvSpPr>
          <p:cNvPr id="29" name="Text 27"/>
          <p:cNvSpPr txBox="1"/>
          <p:nvPr/>
        </p:nvSpPr>
        <p:spPr>
          <a:xfrm>
            <a:off x="1316736" y="5120640"/>
            <a:ext cx="5394960" cy="292608"/>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Entrusted by STATUTE with municipal functions</a:t>
            </a:r>
            <a:endParaRPr lang="en-US" sz="1400" dirty="0"/>
          </a:p>
        </p:txBody>
      </p:sp>
      <p:sp>
        <p:nvSpPr>
          <p:cNvPr id="30" name="Text 28"/>
          <p:cNvSpPr txBox="1"/>
          <p:nvPr/>
        </p:nvSpPr>
        <p:spPr>
          <a:xfrm>
            <a:off x="1316736" y="5394960"/>
            <a:ext cx="10143439" cy="310896"/>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Health, education, water, sewerage, town planning, roads, markets, transport, welfare.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08</a:t>
            </a:r>
            <a:endParaRPr lang="en-US" sz="1000" dirty="0"/>
          </a:p>
        </p:txBody>
      </p:sp>
      <p:sp>
        <p:nvSpPr>
          <p:cNvPr id="3" name="Text 1"/>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00" kern="0" dirty="0">
                <a:solidFill>
                  <a:srgbClr val="C9A227"/>
                </a:solidFill>
                <a:latin typeface="Calibri" pitchFamily="34" charset="0"/>
                <a:ea typeface="Calibri" pitchFamily="34" charset="-122"/>
                <a:cs typeface="Calibri" pitchFamily="34" charset="-120"/>
              </a:rPr>
              <a:t>BRANCH 1 — THE NUANCE</a:t>
            </a:r>
            <a:endParaRPr lang="en-US" sz="1050" dirty="0"/>
          </a:p>
        </p:txBody>
      </p:sp>
      <p:sp>
        <p:nvSpPr>
          <p:cNvPr id="4" name="Text 2"/>
          <p:cNvSpPr txBox="1"/>
          <p:nvPr/>
        </p:nvSpPr>
        <p:spPr>
          <a:xfrm>
            <a:off x="566928" y="603504"/>
            <a:ext cx="11057839" cy="603504"/>
          </a:xfrm>
          <a:prstGeom prst="rect">
            <a:avLst/>
          </a:prstGeom>
          <a:noFill/>
          <a:ln/>
        </p:spPr>
        <p:txBody>
          <a:bodyPr wrap="square" lIns="0" tIns="0" rIns="0" bIns="0" rtlCol="0" anchor="ctr"/>
          <a:lstStyle/>
          <a:p>
            <a:pPr indent="0" marL="0">
              <a:buNone/>
            </a:pPr>
            <a:r>
              <a:rPr lang="en-US" sz="2900" b="1" dirty="0">
                <a:solidFill>
                  <a:srgbClr val="7B1113"/>
                </a:solidFill>
                <a:latin typeface="Cambria" pitchFamily="34" charset="0"/>
                <a:ea typeface="Cambria" pitchFamily="34" charset="-122"/>
                <a:cs typeface="Cambria" pitchFamily="34" charset="-120"/>
              </a:rPr>
              <a:t>The Word Examiners Build Questions On</a:t>
            </a:r>
            <a:endParaRPr lang="en-US" sz="2900" dirty="0"/>
          </a:p>
        </p:txBody>
      </p:sp>
      <p:sp>
        <p:nvSpPr>
          <p:cNvPr id="5" name="Shape 3"/>
          <p:cNvSpPr/>
          <p:nvPr/>
        </p:nvSpPr>
        <p:spPr>
          <a:xfrm>
            <a:off x="566928" y="1645920"/>
            <a:ext cx="11057839" cy="1572768"/>
          </a:xfrm>
          <a:prstGeom prst="roundRect">
            <a:avLst>
              <a:gd name="adj" fmla="val 4651"/>
            </a:avLst>
          </a:prstGeom>
          <a:solidFill>
            <a:srgbClr val="FBF5E4"/>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6" name="Shape 4"/>
          <p:cNvSpPr/>
          <p:nvPr/>
        </p:nvSpPr>
        <p:spPr>
          <a:xfrm>
            <a:off x="859536" y="1883664"/>
            <a:ext cx="457200" cy="457200"/>
          </a:xfrm>
          <a:prstGeom prst="ellipse">
            <a:avLst/>
          </a:prstGeom>
          <a:solidFill>
            <a:srgbClr val="C9A227"/>
          </a:solidFill>
          <a:ln w="12700">
            <a:solidFill>
              <a:srgbClr val="C9A227"/>
            </a:solidFill>
            <a:prstDash val="solid"/>
          </a:ln>
        </p:spPr>
      </p:sp>
      <p:sp>
        <p:nvSpPr>
          <p:cNvPr id="7" name="Text 5"/>
          <p:cNvSpPr txBox="1"/>
          <p:nvPr/>
        </p:nvSpPr>
        <p:spPr>
          <a:xfrm>
            <a:off x="859536" y="188366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6"/>
          <p:cNvSpPr txBox="1"/>
          <p:nvPr/>
        </p:nvSpPr>
        <p:spPr>
          <a:xfrm>
            <a:off x="1481328" y="1847088"/>
            <a:ext cx="9869119" cy="365760"/>
          </a:xfrm>
          <a:prstGeom prst="rect">
            <a:avLst/>
          </a:prstGeom>
          <a:noFill/>
          <a:ln/>
        </p:spPr>
        <p:txBody>
          <a:bodyPr wrap="square" lIns="0" tIns="0" rIns="0" bIns="0" rtlCol="0" anchor="ctr"/>
          <a:lstStyle/>
          <a:p>
            <a:pPr indent="0" marL="0">
              <a:buNone/>
            </a:pPr>
            <a:r>
              <a:rPr lang="en-US" sz="2000" b="1" dirty="0">
                <a:solidFill>
                  <a:srgbClr val="7B1113"/>
                </a:solidFill>
                <a:latin typeface="Cambria" pitchFamily="34" charset="0"/>
                <a:ea typeface="Cambria" pitchFamily="34" charset="-122"/>
                <a:cs typeface="Cambria" pitchFamily="34" charset="-120"/>
              </a:rPr>
              <a:t>“ORDINARILY elected by the inhabitants”</a:t>
            </a:r>
            <a:endParaRPr lang="en-US" sz="2000" dirty="0"/>
          </a:p>
        </p:txBody>
      </p:sp>
      <p:sp>
        <p:nvSpPr>
          <p:cNvPr id="9" name="Text 7"/>
          <p:cNvSpPr txBox="1"/>
          <p:nvPr/>
        </p:nvSpPr>
        <p:spPr>
          <a:xfrm>
            <a:off x="1481328" y="2267712"/>
            <a:ext cx="9869119" cy="786384"/>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Election is a STRONG INDICATOR — not a mandatory condition. That is exactly why the DDA, which is not elected at all, was still held to be a local authority.</a:t>
            </a:r>
            <a:endParaRPr lang="en-US" sz="1400" dirty="0"/>
          </a:p>
        </p:txBody>
      </p:sp>
      <p:sp>
        <p:nvSpPr>
          <p:cNvPr id="10" name="Text 8"/>
          <p:cNvSpPr txBox="1"/>
          <p:nvPr/>
        </p:nvSpPr>
        <p:spPr>
          <a:xfrm>
            <a:off x="566928" y="3419856"/>
            <a:ext cx="11057839" cy="256032"/>
          </a:xfrm>
          <a:prstGeom prst="rect">
            <a:avLst/>
          </a:prstGeom>
          <a:noFill/>
          <a:ln/>
        </p:spPr>
        <p:txBody>
          <a:bodyPr wrap="square" lIns="0" tIns="0" rIns="0" bIns="0" rtlCol="0" anchor="ctr"/>
          <a:lstStyle/>
          <a:p>
            <a:pPr indent="0" marL="0">
              <a:buNone/>
            </a:pPr>
            <a:r>
              <a:rPr lang="en-US" sz="1100" b="1" spc="150" kern="0" dirty="0">
                <a:solidFill>
                  <a:srgbClr val="B3261E"/>
                </a:solidFill>
                <a:latin typeface="Calibri" pitchFamily="34" charset="0"/>
                <a:ea typeface="Calibri" pitchFamily="34" charset="-122"/>
                <a:cs typeface="Calibri" pitchFamily="34" charset="-120"/>
              </a:rPr>
              <a:t>PRELIMS TRAP</a:t>
            </a:r>
            <a:endParaRPr lang="en-US" sz="1100" dirty="0"/>
          </a:p>
        </p:txBody>
      </p:sp>
      <p:sp>
        <p:nvSpPr>
          <p:cNvPr id="11" name="Text 9"/>
          <p:cNvSpPr txBox="1"/>
          <p:nvPr/>
        </p:nvSpPr>
        <p:spPr>
          <a:xfrm>
            <a:off x="566928" y="3675888"/>
            <a:ext cx="11057839" cy="329184"/>
          </a:xfrm>
          <a:prstGeom prst="rect">
            <a:avLst/>
          </a:prstGeom>
          <a:noFill/>
          <a:ln/>
        </p:spPr>
        <p:txBody>
          <a:bodyPr wrap="square" lIns="0" tIns="0" rIns="0" bIns="0" rtlCol="0" anchor="ctr"/>
          <a:lstStyle/>
          <a:p>
            <a:pPr indent="0" marL="0">
              <a:buNone/>
            </a:pPr>
            <a:r>
              <a:rPr lang="en-US" sz="1500" b="1" dirty="0">
                <a:solidFill>
                  <a:srgbClr val="B3261E"/>
                </a:solidFill>
                <a:latin typeface="Calibri" pitchFamily="34" charset="0"/>
                <a:ea typeface="Calibri" pitchFamily="34" charset="-122"/>
                <a:cs typeface="Calibri" pitchFamily="34" charset="-120"/>
              </a:rPr>
              <a:t>✗   “An elected body is essential for local-authority status.”   →   FALSE</a:t>
            </a:r>
            <a:endParaRPr lang="en-US" sz="1500" dirty="0"/>
          </a:p>
        </p:txBody>
      </p:sp>
      <p:sp>
        <p:nvSpPr>
          <p:cNvPr id="12" name="Text 10"/>
          <p:cNvSpPr txBox="1"/>
          <p:nvPr/>
        </p:nvSpPr>
        <p:spPr>
          <a:xfrm>
            <a:off x="566928" y="4261104"/>
            <a:ext cx="11057839" cy="256032"/>
          </a:xfrm>
          <a:prstGeom prst="rect">
            <a:avLst/>
          </a:prstGeom>
          <a:noFill/>
          <a:ln/>
        </p:spPr>
        <p:txBody>
          <a:bodyPr wrap="square" lIns="0" tIns="0" rIns="0" bIns="0" rtlCol="0" anchor="ctr"/>
          <a:lstStyle/>
          <a:p>
            <a:pPr indent="0" marL="0">
              <a:buNone/>
            </a:pPr>
            <a:r>
              <a:rPr lang="en-US" sz="1100" b="1" spc="150" kern="0" dirty="0">
                <a:solidFill>
                  <a:srgbClr val="6B6B6B"/>
                </a:solidFill>
                <a:latin typeface="Calibri" pitchFamily="34" charset="0"/>
                <a:ea typeface="Calibri" pitchFamily="34" charset="-122"/>
                <a:cs typeface="Calibri" pitchFamily="34" charset="-120"/>
              </a:rPr>
              <a:t>EXAMPLES OF LOCAL AUTHORITIES</a:t>
            </a:r>
            <a:endParaRPr lang="en-US" sz="1100" dirty="0"/>
          </a:p>
        </p:txBody>
      </p:sp>
      <p:sp>
        <p:nvSpPr>
          <p:cNvPr id="13" name="Shape 11"/>
          <p:cNvSpPr/>
          <p:nvPr/>
        </p:nvSpPr>
        <p:spPr>
          <a:xfrm>
            <a:off x="566928" y="4553712"/>
            <a:ext cx="2613584" cy="457200"/>
          </a:xfrm>
          <a:prstGeom prst="roundRect">
            <a:avLst>
              <a:gd name="adj" fmla="val 16000"/>
            </a:avLst>
          </a:prstGeom>
          <a:solidFill>
            <a:srgbClr val="EDF1F6"/>
          </a:solidFill>
          <a:ln w="9525">
            <a:solidFill>
              <a:srgbClr val="DFD9D9"/>
            </a:solidFill>
            <a:prstDash val="solid"/>
          </a:ln>
        </p:spPr>
      </p:sp>
      <p:sp>
        <p:nvSpPr>
          <p:cNvPr id="14" name="Text 12"/>
          <p:cNvSpPr txBox="1"/>
          <p:nvPr/>
        </p:nvSpPr>
        <p:spPr>
          <a:xfrm>
            <a:off x="658368" y="4553712"/>
            <a:ext cx="2430704" cy="457200"/>
          </a:xfrm>
          <a:prstGeom prst="rect">
            <a:avLst/>
          </a:prstGeom>
          <a:noFill/>
          <a:ln/>
        </p:spPr>
        <p:txBody>
          <a:bodyPr wrap="square" lIns="0" tIns="0" rIns="0" bIns="0"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Municipalities</a:t>
            </a:r>
            <a:endParaRPr lang="en-US" sz="1200" dirty="0"/>
          </a:p>
        </p:txBody>
      </p:sp>
      <p:sp>
        <p:nvSpPr>
          <p:cNvPr id="15" name="Shape 13"/>
          <p:cNvSpPr/>
          <p:nvPr/>
        </p:nvSpPr>
        <p:spPr>
          <a:xfrm>
            <a:off x="3381680" y="4553712"/>
            <a:ext cx="2613584" cy="457200"/>
          </a:xfrm>
          <a:prstGeom prst="roundRect">
            <a:avLst>
              <a:gd name="adj" fmla="val 16000"/>
            </a:avLst>
          </a:prstGeom>
          <a:solidFill>
            <a:srgbClr val="EDF1F6"/>
          </a:solidFill>
          <a:ln w="9525">
            <a:solidFill>
              <a:srgbClr val="DFD9D9"/>
            </a:solidFill>
            <a:prstDash val="solid"/>
          </a:ln>
        </p:spPr>
      </p:sp>
      <p:sp>
        <p:nvSpPr>
          <p:cNvPr id="16" name="Text 14"/>
          <p:cNvSpPr txBox="1"/>
          <p:nvPr/>
        </p:nvSpPr>
        <p:spPr>
          <a:xfrm>
            <a:off x="3473120" y="4553712"/>
            <a:ext cx="2430704" cy="457200"/>
          </a:xfrm>
          <a:prstGeom prst="rect">
            <a:avLst/>
          </a:prstGeom>
          <a:noFill/>
          <a:ln/>
        </p:spPr>
        <p:txBody>
          <a:bodyPr wrap="square" lIns="0" tIns="0" rIns="0" bIns="0"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Panchayats</a:t>
            </a:r>
            <a:endParaRPr lang="en-US" sz="1200" dirty="0"/>
          </a:p>
        </p:txBody>
      </p:sp>
      <p:sp>
        <p:nvSpPr>
          <p:cNvPr id="17" name="Shape 15"/>
          <p:cNvSpPr/>
          <p:nvPr/>
        </p:nvSpPr>
        <p:spPr>
          <a:xfrm>
            <a:off x="6196432" y="4553712"/>
            <a:ext cx="2613584" cy="457200"/>
          </a:xfrm>
          <a:prstGeom prst="roundRect">
            <a:avLst>
              <a:gd name="adj" fmla="val 16000"/>
            </a:avLst>
          </a:prstGeom>
          <a:solidFill>
            <a:srgbClr val="EDF1F6"/>
          </a:solidFill>
          <a:ln w="9525">
            <a:solidFill>
              <a:srgbClr val="DFD9D9"/>
            </a:solidFill>
            <a:prstDash val="solid"/>
          </a:ln>
        </p:spPr>
      </p:sp>
      <p:sp>
        <p:nvSpPr>
          <p:cNvPr id="18" name="Text 16"/>
          <p:cNvSpPr txBox="1"/>
          <p:nvPr/>
        </p:nvSpPr>
        <p:spPr>
          <a:xfrm>
            <a:off x="6287872" y="4553712"/>
            <a:ext cx="2430704" cy="457200"/>
          </a:xfrm>
          <a:prstGeom prst="rect">
            <a:avLst/>
          </a:prstGeom>
          <a:noFill/>
          <a:ln/>
        </p:spPr>
        <p:txBody>
          <a:bodyPr wrap="square" lIns="0" tIns="0" rIns="0" bIns="0"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District Boards</a:t>
            </a:r>
            <a:endParaRPr lang="en-US" sz="1200" dirty="0"/>
          </a:p>
        </p:txBody>
      </p:sp>
      <p:sp>
        <p:nvSpPr>
          <p:cNvPr id="19" name="Shape 17"/>
          <p:cNvSpPr/>
          <p:nvPr/>
        </p:nvSpPr>
        <p:spPr>
          <a:xfrm>
            <a:off x="9011183" y="4553712"/>
            <a:ext cx="2613584" cy="457200"/>
          </a:xfrm>
          <a:prstGeom prst="roundRect">
            <a:avLst>
              <a:gd name="adj" fmla="val 16000"/>
            </a:avLst>
          </a:prstGeom>
          <a:solidFill>
            <a:srgbClr val="EDF1F6"/>
          </a:solidFill>
          <a:ln w="9525">
            <a:solidFill>
              <a:srgbClr val="DFD9D9"/>
            </a:solidFill>
            <a:prstDash val="solid"/>
          </a:ln>
        </p:spPr>
      </p:sp>
      <p:sp>
        <p:nvSpPr>
          <p:cNvPr id="20" name="Text 18"/>
          <p:cNvSpPr txBox="1"/>
          <p:nvPr/>
        </p:nvSpPr>
        <p:spPr>
          <a:xfrm>
            <a:off x="9102623" y="4553712"/>
            <a:ext cx="2430704" cy="457200"/>
          </a:xfrm>
          <a:prstGeom prst="rect">
            <a:avLst/>
          </a:prstGeom>
          <a:noFill/>
          <a:ln/>
        </p:spPr>
        <p:txBody>
          <a:bodyPr wrap="square" lIns="0" tIns="0" rIns="0" bIns="0"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Improvement Trusts</a:t>
            </a:r>
            <a:endParaRPr lang="en-US" sz="1200" dirty="0"/>
          </a:p>
        </p:txBody>
      </p:sp>
      <p:sp>
        <p:nvSpPr>
          <p:cNvPr id="21" name="Shape 19"/>
          <p:cNvSpPr/>
          <p:nvPr/>
        </p:nvSpPr>
        <p:spPr>
          <a:xfrm>
            <a:off x="566928" y="5120640"/>
            <a:ext cx="2613584" cy="457200"/>
          </a:xfrm>
          <a:prstGeom prst="roundRect">
            <a:avLst>
              <a:gd name="adj" fmla="val 16000"/>
            </a:avLst>
          </a:prstGeom>
          <a:solidFill>
            <a:srgbClr val="EDF1F6"/>
          </a:solidFill>
          <a:ln w="9525">
            <a:solidFill>
              <a:srgbClr val="DFD9D9"/>
            </a:solidFill>
            <a:prstDash val="solid"/>
          </a:ln>
        </p:spPr>
      </p:sp>
      <p:sp>
        <p:nvSpPr>
          <p:cNvPr id="22" name="Text 20"/>
          <p:cNvSpPr txBox="1"/>
          <p:nvPr/>
        </p:nvSpPr>
        <p:spPr>
          <a:xfrm>
            <a:off x="658368" y="5120640"/>
            <a:ext cx="2430704" cy="457200"/>
          </a:xfrm>
          <a:prstGeom prst="rect">
            <a:avLst/>
          </a:prstGeom>
          <a:noFill/>
          <a:ln/>
        </p:spPr>
        <p:txBody>
          <a:bodyPr wrap="square" lIns="0" tIns="0" rIns="0" bIns="0"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Port Commissioners</a:t>
            </a:r>
            <a:endParaRPr lang="en-US" sz="1200" dirty="0"/>
          </a:p>
        </p:txBody>
      </p:sp>
      <p:sp>
        <p:nvSpPr>
          <p:cNvPr id="23" name="Shape 21"/>
          <p:cNvSpPr/>
          <p:nvPr/>
        </p:nvSpPr>
        <p:spPr>
          <a:xfrm>
            <a:off x="3381680" y="5120640"/>
            <a:ext cx="2613584" cy="457200"/>
          </a:xfrm>
          <a:prstGeom prst="roundRect">
            <a:avLst>
              <a:gd name="adj" fmla="val 16000"/>
            </a:avLst>
          </a:prstGeom>
          <a:solidFill>
            <a:srgbClr val="EDF1F6"/>
          </a:solidFill>
          <a:ln w="9525">
            <a:solidFill>
              <a:srgbClr val="DFD9D9"/>
            </a:solidFill>
            <a:prstDash val="solid"/>
          </a:ln>
        </p:spPr>
      </p:sp>
      <p:sp>
        <p:nvSpPr>
          <p:cNvPr id="24" name="Text 22"/>
          <p:cNvSpPr txBox="1"/>
          <p:nvPr/>
        </p:nvSpPr>
        <p:spPr>
          <a:xfrm>
            <a:off x="3473120" y="5120640"/>
            <a:ext cx="2430704" cy="457200"/>
          </a:xfrm>
          <a:prstGeom prst="rect">
            <a:avLst/>
          </a:prstGeom>
          <a:noFill/>
          <a:ln/>
        </p:spPr>
        <p:txBody>
          <a:bodyPr wrap="square" lIns="0" tIns="0" rIns="0" bIns="0"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Town / Notified Area Committees</a:t>
            </a:r>
            <a:endParaRPr lang="en-US" sz="1200" dirty="0"/>
          </a:p>
        </p:txBody>
      </p:sp>
      <p:sp>
        <p:nvSpPr>
          <p:cNvPr id="25" name="Shape 23"/>
          <p:cNvSpPr/>
          <p:nvPr/>
        </p:nvSpPr>
        <p:spPr>
          <a:xfrm>
            <a:off x="6196432" y="5120640"/>
            <a:ext cx="2613584" cy="457200"/>
          </a:xfrm>
          <a:prstGeom prst="roundRect">
            <a:avLst>
              <a:gd name="adj" fmla="val 16000"/>
            </a:avLst>
          </a:prstGeom>
          <a:solidFill>
            <a:srgbClr val="EDF1F6"/>
          </a:solidFill>
          <a:ln w="9525">
            <a:solidFill>
              <a:srgbClr val="DFD9D9"/>
            </a:solidFill>
            <a:prstDash val="solid"/>
          </a:ln>
        </p:spPr>
      </p:sp>
      <p:sp>
        <p:nvSpPr>
          <p:cNvPr id="26" name="Text 24"/>
          <p:cNvSpPr txBox="1"/>
          <p:nvPr/>
        </p:nvSpPr>
        <p:spPr>
          <a:xfrm>
            <a:off x="6287872" y="5120640"/>
            <a:ext cx="2430704" cy="457200"/>
          </a:xfrm>
          <a:prstGeom prst="rect">
            <a:avLst/>
          </a:prstGeom>
          <a:noFill/>
          <a:ln/>
        </p:spPr>
        <p:txBody>
          <a:bodyPr wrap="square" lIns="0" tIns="0" rIns="0" bIns="0"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Development Authorities (DDA)</a:t>
            </a:r>
            <a:endParaRPr lang="en-US" sz="1200" dirty="0"/>
          </a:p>
        </p:txBody>
      </p:sp>
      <p:sp>
        <p:nvSpPr>
          <p:cNvPr id="27" name="Shape 25"/>
          <p:cNvSpPr/>
          <p:nvPr/>
        </p:nvSpPr>
        <p:spPr>
          <a:xfrm>
            <a:off x="9011183" y="5120640"/>
            <a:ext cx="2613584" cy="457200"/>
          </a:xfrm>
          <a:prstGeom prst="roundRect">
            <a:avLst>
              <a:gd name="adj" fmla="val 16000"/>
            </a:avLst>
          </a:prstGeom>
          <a:solidFill>
            <a:srgbClr val="EDF1F6"/>
          </a:solidFill>
          <a:ln w="9525">
            <a:solidFill>
              <a:srgbClr val="DFD9D9"/>
            </a:solidFill>
            <a:prstDash val="solid"/>
          </a:ln>
        </p:spPr>
      </p:sp>
      <p:sp>
        <p:nvSpPr>
          <p:cNvPr id="28" name="Text 26"/>
          <p:cNvSpPr txBox="1"/>
          <p:nvPr/>
        </p:nvSpPr>
        <p:spPr>
          <a:xfrm>
            <a:off x="9102623" y="5120640"/>
            <a:ext cx="2430704" cy="457200"/>
          </a:xfrm>
          <a:prstGeom prst="rect">
            <a:avLst/>
          </a:prstGeom>
          <a:noFill/>
          <a:ln/>
        </p:spPr>
        <p:txBody>
          <a:bodyPr wrap="square" lIns="0" tIns="0" rIns="0" bIns="0"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Mining Boards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7B1113"/>
        </a:solidFill>
      </p:bgPr>
    </p:bg>
    <p:spTree>
      <p:nvGrpSpPr>
        <p:cNvPr id="1" name=""/>
        <p:cNvGrpSpPr/>
        <p:nvPr/>
      </p:nvGrpSpPr>
      <p:grpSpPr>
        <a:xfrm>
          <a:off x="0" y="0"/>
          <a:ext cx="0" cy="0"/>
          <a:chOff x="0" y="0"/>
          <a:chExt cx="0" cy="0"/>
        </a:xfrm>
      </p:grpSpPr>
      <p:sp>
        <p:nvSpPr>
          <p:cNvPr id="2" name="Text 0"/>
          <p:cNvSpPr txBox="1"/>
          <p:nvPr/>
        </p:nvSpPr>
        <p:spPr>
          <a:xfrm>
            <a:off x="566928" y="777240"/>
            <a:ext cx="11057839" cy="274320"/>
          </a:xfrm>
          <a:prstGeom prst="rect">
            <a:avLst/>
          </a:prstGeom>
          <a:noFill/>
          <a:ln/>
        </p:spPr>
        <p:txBody>
          <a:bodyPr wrap="square" lIns="0" tIns="0" rIns="0" bIns="0" rtlCol="0" anchor="ctr"/>
          <a:lstStyle/>
          <a:p>
            <a:pPr indent="0" marL="0">
              <a:buNone/>
            </a:pPr>
            <a:r>
              <a:rPr lang="en-US" sz="1150" b="1" spc="250" kern="0" dirty="0">
                <a:solidFill>
                  <a:srgbClr val="C9A227"/>
                </a:solidFill>
                <a:latin typeface="Calibri" pitchFamily="34" charset="0"/>
                <a:ea typeface="Calibri" pitchFamily="34" charset="-122"/>
                <a:cs typeface="Calibri" pitchFamily="34" charset="-120"/>
              </a:rPr>
              <a:t>BRANCH 2</a:t>
            </a:r>
            <a:endParaRPr lang="en-US" sz="1150" dirty="0"/>
          </a:p>
        </p:txBody>
      </p:sp>
      <p:sp>
        <p:nvSpPr>
          <p:cNvPr id="3" name="Text 1"/>
          <p:cNvSpPr txBox="1"/>
          <p:nvPr/>
        </p:nvSpPr>
        <p:spPr>
          <a:xfrm>
            <a:off x="566928" y="1078992"/>
            <a:ext cx="11057839"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“Other Authorities”</a:t>
            </a:r>
            <a:endParaRPr lang="en-US" sz="4000" dirty="0"/>
          </a:p>
        </p:txBody>
      </p:sp>
      <p:sp>
        <p:nvSpPr>
          <p:cNvPr id="4" name="Text 2"/>
          <p:cNvSpPr txBox="1"/>
          <p:nvPr/>
        </p:nvSpPr>
        <p:spPr>
          <a:xfrm>
            <a:off x="566928" y="1883664"/>
            <a:ext cx="11057839" cy="365760"/>
          </a:xfrm>
          <a:prstGeom prst="rect">
            <a:avLst/>
          </a:prstGeom>
          <a:noFill/>
          <a:ln/>
        </p:spPr>
        <p:txBody>
          <a:bodyPr wrap="square" lIns="0" tIns="0" rIns="0" bIns="0" rtlCol="0" anchor="ctr"/>
          <a:lstStyle/>
          <a:p>
            <a:pPr indent="0" marL="0">
              <a:buNone/>
            </a:pPr>
            <a:r>
              <a:rPr lang="en-US" sz="1500" dirty="0">
                <a:solidFill>
                  <a:srgbClr val="E8CFD0"/>
                </a:solidFill>
                <a:latin typeface="Calibri" pitchFamily="34" charset="0"/>
                <a:ea typeface="Calibri" pitchFamily="34" charset="-122"/>
                <a:cs typeface="Calibri" pitchFamily="34" charset="-120"/>
              </a:rPr>
              <a:t>Article 12 never defines the phrase. Every case since 1954 answers one question:</a:t>
            </a:r>
            <a:endParaRPr lang="en-US" sz="1500" dirty="0"/>
          </a:p>
        </p:txBody>
      </p:sp>
      <p:sp>
        <p:nvSpPr>
          <p:cNvPr id="5" name="Shape 3"/>
          <p:cNvSpPr/>
          <p:nvPr/>
        </p:nvSpPr>
        <p:spPr>
          <a:xfrm>
            <a:off x="566928" y="2395728"/>
            <a:ext cx="11057839" cy="960120"/>
          </a:xfrm>
          <a:prstGeom prst="roundRect">
            <a:avLst>
              <a:gd name="adj" fmla="val 7619"/>
            </a:avLst>
          </a:prstGeom>
          <a:solidFill>
            <a:srgbClr val="5A0C0E"/>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6" name="Text 4"/>
          <p:cNvSpPr txBox="1"/>
          <p:nvPr/>
        </p:nvSpPr>
        <p:spPr>
          <a:xfrm>
            <a:off x="566928" y="2395728"/>
            <a:ext cx="11057839" cy="960120"/>
          </a:xfrm>
          <a:prstGeom prst="rect">
            <a:avLst/>
          </a:prstGeom>
          <a:noFill/>
          <a:ln/>
        </p:spPr>
        <p:txBody>
          <a:bodyPr wrap="square" lIns="0" tIns="0" rIns="0" bIns="0" rtlCol="0" anchor="ctr"/>
          <a:lstStyle/>
          <a:p>
            <a:pPr algn="ctr" indent="0" marL="0">
              <a:buNone/>
            </a:pPr>
            <a:r>
              <a:rPr lang="en-US" sz="3000" b="1" dirty="0">
                <a:solidFill>
                  <a:srgbClr val="C9A227"/>
                </a:solidFill>
                <a:latin typeface="Cambria" pitchFamily="34" charset="0"/>
                <a:ea typeface="Cambria" pitchFamily="34" charset="-122"/>
                <a:cs typeface="Cambria" pitchFamily="34" charset="-120"/>
              </a:rPr>
              <a:t>Who ELSE counts as the State?</a:t>
            </a:r>
            <a:endParaRPr lang="en-US" sz="3000" dirty="0"/>
          </a:p>
        </p:txBody>
      </p:sp>
      <p:sp>
        <p:nvSpPr>
          <p:cNvPr id="7" name="Text 5"/>
          <p:cNvSpPr txBox="1"/>
          <p:nvPr/>
        </p:nvSpPr>
        <p:spPr>
          <a:xfrm>
            <a:off x="566928" y="3602736"/>
            <a:ext cx="11057839" cy="256032"/>
          </a:xfrm>
          <a:prstGeom prst="rect">
            <a:avLst/>
          </a:prstGeom>
          <a:noFill/>
          <a:ln/>
        </p:spPr>
        <p:txBody>
          <a:bodyPr wrap="square" lIns="0" tIns="0" rIns="0" bIns="0"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THE SHIFT TO UNDERSTAND</a:t>
            </a:r>
            <a:endParaRPr lang="en-US" sz="1100" dirty="0"/>
          </a:p>
        </p:txBody>
      </p:sp>
      <p:sp>
        <p:nvSpPr>
          <p:cNvPr id="8" name="Text 6"/>
          <p:cNvSpPr txBox="1"/>
          <p:nvPr/>
        </p:nvSpPr>
        <p:spPr>
          <a:xfrm>
            <a:off x="566928" y="3858768"/>
            <a:ext cx="11057839" cy="676656"/>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courts moved from asking  “HOW was this body born?”   →   to asking  “WHO really controls it?”</a:t>
            </a:r>
            <a:endParaRPr lang="en-US" sz="1700" dirty="0"/>
          </a:p>
        </p:txBody>
      </p:sp>
      <p:sp>
        <p:nvSpPr>
          <p:cNvPr id="9" name="Shape 7"/>
          <p:cNvSpPr/>
          <p:nvPr/>
        </p:nvSpPr>
        <p:spPr>
          <a:xfrm>
            <a:off x="566928" y="4663440"/>
            <a:ext cx="2572436" cy="1024128"/>
          </a:xfrm>
          <a:prstGeom prst="roundRect">
            <a:avLst>
              <a:gd name="adj" fmla="val 7143"/>
            </a:avLst>
          </a:prstGeom>
          <a:solidFill>
            <a:srgbClr val="5A0C0E"/>
          </a:solidFill>
          <a:ln w="12700">
            <a:solidFill>
              <a:srgbClr val="A32C2E"/>
            </a:solidFill>
            <a:prstDash val="solid"/>
          </a:ln>
        </p:spPr>
      </p:sp>
      <p:sp>
        <p:nvSpPr>
          <p:cNvPr id="10" name="Text 8"/>
          <p:cNvSpPr txBox="1"/>
          <p:nvPr/>
        </p:nvSpPr>
        <p:spPr>
          <a:xfrm>
            <a:off x="676656" y="4791456"/>
            <a:ext cx="2352980" cy="237744"/>
          </a:xfrm>
          <a:prstGeom prst="rect">
            <a:avLst/>
          </a:prstGeom>
          <a:noFill/>
          <a:ln/>
        </p:spPr>
        <p:txBody>
          <a:bodyPr wrap="square" lIns="0" tIns="0" rIns="0" bIns="0" rtlCol="0" anchor="ctr"/>
          <a:lstStyle/>
          <a:p>
            <a:pPr algn="ctr" indent="0" marL="0">
              <a:buNone/>
            </a:pPr>
            <a:r>
              <a:rPr lang="en-US" sz="1100" b="1" spc="100" kern="0" dirty="0">
                <a:solidFill>
                  <a:srgbClr val="C9A227"/>
                </a:solidFill>
                <a:latin typeface="Calibri" pitchFamily="34" charset="0"/>
                <a:ea typeface="Calibri" pitchFamily="34" charset="-122"/>
                <a:cs typeface="Calibri" pitchFamily="34" charset="-120"/>
              </a:rPr>
              <a:t>PHASE 1</a:t>
            </a:r>
            <a:endParaRPr lang="en-US" sz="1100" dirty="0"/>
          </a:p>
        </p:txBody>
      </p:sp>
      <p:sp>
        <p:nvSpPr>
          <p:cNvPr id="11" name="Text 9"/>
          <p:cNvSpPr txBox="1"/>
          <p:nvPr/>
        </p:nvSpPr>
        <p:spPr>
          <a:xfrm>
            <a:off x="676656" y="5029200"/>
            <a:ext cx="2352980" cy="310896"/>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1954</a:t>
            </a:r>
            <a:endParaRPr lang="en-US" sz="1900" dirty="0"/>
          </a:p>
        </p:txBody>
      </p:sp>
      <p:sp>
        <p:nvSpPr>
          <p:cNvPr id="12" name="Text 10"/>
          <p:cNvSpPr txBox="1"/>
          <p:nvPr/>
        </p:nvSpPr>
        <p:spPr>
          <a:xfrm>
            <a:off x="676656" y="5358384"/>
            <a:ext cx="2352980" cy="237744"/>
          </a:xfrm>
          <a:prstGeom prst="rect">
            <a:avLst/>
          </a:prstGeom>
          <a:noFill/>
          <a:ln/>
        </p:spPr>
        <p:txBody>
          <a:bodyPr wrap="square" lIns="0" tIns="0" rIns="0" bIns="0" rtlCol="0" anchor="ctr"/>
          <a:lstStyle/>
          <a:p>
            <a:pPr algn="ctr" indent="0" marL="0">
              <a:buNone/>
            </a:pPr>
            <a:r>
              <a:rPr lang="en-US" sz="1150" dirty="0">
                <a:solidFill>
                  <a:srgbClr val="E8CFD0"/>
                </a:solidFill>
                <a:latin typeface="Calibri" pitchFamily="34" charset="0"/>
                <a:ea typeface="Calibri" pitchFamily="34" charset="-122"/>
                <a:cs typeface="Calibri" pitchFamily="34" charset="-120"/>
              </a:rPr>
              <a:t>Narrow view</a:t>
            </a:r>
            <a:endParaRPr lang="en-US" sz="1150" dirty="0"/>
          </a:p>
        </p:txBody>
      </p:sp>
      <p:sp>
        <p:nvSpPr>
          <p:cNvPr id="13" name="Shape 11"/>
          <p:cNvSpPr/>
          <p:nvPr/>
        </p:nvSpPr>
        <p:spPr>
          <a:xfrm>
            <a:off x="3395396" y="4663440"/>
            <a:ext cx="2572436" cy="1024128"/>
          </a:xfrm>
          <a:prstGeom prst="roundRect">
            <a:avLst>
              <a:gd name="adj" fmla="val 7143"/>
            </a:avLst>
          </a:prstGeom>
          <a:solidFill>
            <a:srgbClr val="5A0C0E"/>
          </a:solidFill>
          <a:ln w="12700">
            <a:solidFill>
              <a:srgbClr val="A32C2E"/>
            </a:solidFill>
            <a:prstDash val="solid"/>
          </a:ln>
        </p:spPr>
      </p:sp>
      <p:sp>
        <p:nvSpPr>
          <p:cNvPr id="14" name="Text 12"/>
          <p:cNvSpPr txBox="1"/>
          <p:nvPr/>
        </p:nvSpPr>
        <p:spPr>
          <a:xfrm>
            <a:off x="3505124" y="4791456"/>
            <a:ext cx="2352980" cy="237744"/>
          </a:xfrm>
          <a:prstGeom prst="rect">
            <a:avLst/>
          </a:prstGeom>
          <a:noFill/>
          <a:ln/>
        </p:spPr>
        <p:txBody>
          <a:bodyPr wrap="square" lIns="0" tIns="0" rIns="0" bIns="0" rtlCol="0" anchor="ctr"/>
          <a:lstStyle/>
          <a:p>
            <a:pPr algn="ctr" indent="0" marL="0">
              <a:buNone/>
            </a:pPr>
            <a:r>
              <a:rPr lang="en-US" sz="1100" b="1" spc="100" kern="0" dirty="0">
                <a:solidFill>
                  <a:srgbClr val="C9A227"/>
                </a:solidFill>
                <a:latin typeface="Calibri" pitchFamily="34" charset="0"/>
                <a:ea typeface="Calibri" pitchFamily="34" charset="-122"/>
                <a:cs typeface="Calibri" pitchFamily="34" charset="-120"/>
              </a:rPr>
              <a:t>PHASE 2</a:t>
            </a:r>
            <a:endParaRPr lang="en-US" sz="1100" dirty="0"/>
          </a:p>
        </p:txBody>
      </p:sp>
      <p:sp>
        <p:nvSpPr>
          <p:cNvPr id="15" name="Text 13"/>
          <p:cNvSpPr txBox="1"/>
          <p:nvPr/>
        </p:nvSpPr>
        <p:spPr>
          <a:xfrm>
            <a:off x="3505124" y="5029200"/>
            <a:ext cx="2352980" cy="310896"/>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1962–67</a:t>
            </a:r>
            <a:endParaRPr lang="en-US" sz="1900" dirty="0"/>
          </a:p>
        </p:txBody>
      </p:sp>
      <p:sp>
        <p:nvSpPr>
          <p:cNvPr id="16" name="Text 14"/>
          <p:cNvSpPr txBox="1"/>
          <p:nvPr/>
        </p:nvSpPr>
        <p:spPr>
          <a:xfrm>
            <a:off x="3505124" y="5358384"/>
            <a:ext cx="2352980" cy="237744"/>
          </a:xfrm>
          <a:prstGeom prst="rect">
            <a:avLst/>
          </a:prstGeom>
          <a:noFill/>
          <a:ln/>
        </p:spPr>
        <p:txBody>
          <a:bodyPr wrap="square" lIns="0" tIns="0" rIns="0" bIns="0" rtlCol="0" anchor="ctr"/>
          <a:lstStyle/>
          <a:p>
            <a:pPr algn="ctr" indent="0" marL="0">
              <a:buNone/>
            </a:pPr>
            <a:r>
              <a:rPr lang="en-US" sz="1150" dirty="0">
                <a:solidFill>
                  <a:srgbClr val="E8CFD0"/>
                </a:solidFill>
                <a:latin typeface="Calibri" pitchFamily="34" charset="0"/>
                <a:ea typeface="Calibri" pitchFamily="34" charset="-122"/>
                <a:cs typeface="Calibri" pitchFamily="34" charset="-120"/>
              </a:rPr>
              <a:t>Rejected</a:t>
            </a:r>
            <a:endParaRPr lang="en-US" sz="1150" dirty="0"/>
          </a:p>
        </p:txBody>
      </p:sp>
      <p:sp>
        <p:nvSpPr>
          <p:cNvPr id="17" name="Shape 15"/>
          <p:cNvSpPr/>
          <p:nvPr/>
        </p:nvSpPr>
        <p:spPr>
          <a:xfrm>
            <a:off x="6223864" y="4663440"/>
            <a:ext cx="2572436" cy="1024128"/>
          </a:xfrm>
          <a:prstGeom prst="roundRect">
            <a:avLst>
              <a:gd name="adj" fmla="val 7143"/>
            </a:avLst>
          </a:prstGeom>
          <a:solidFill>
            <a:srgbClr val="5A0C0E"/>
          </a:solidFill>
          <a:ln w="12700">
            <a:solidFill>
              <a:srgbClr val="A32C2E"/>
            </a:solidFill>
            <a:prstDash val="solid"/>
          </a:ln>
        </p:spPr>
      </p:sp>
      <p:sp>
        <p:nvSpPr>
          <p:cNvPr id="18" name="Text 16"/>
          <p:cNvSpPr txBox="1"/>
          <p:nvPr/>
        </p:nvSpPr>
        <p:spPr>
          <a:xfrm>
            <a:off x="6333592" y="4791456"/>
            <a:ext cx="2352980" cy="237744"/>
          </a:xfrm>
          <a:prstGeom prst="rect">
            <a:avLst/>
          </a:prstGeom>
          <a:noFill/>
          <a:ln/>
        </p:spPr>
        <p:txBody>
          <a:bodyPr wrap="square" lIns="0" tIns="0" rIns="0" bIns="0" rtlCol="0" anchor="ctr"/>
          <a:lstStyle/>
          <a:p>
            <a:pPr algn="ctr" indent="0" marL="0">
              <a:buNone/>
            </a:pPr>
            <a:r>
              <a:rPr lang="en-US" sz="1100" b="1" spc="100" kern="0" dirty="0">
                <a:solidFill>
                  <a:srgbClr val="C9A227"/>
                </a:solidFill>
                <a:latin typeface="Calibri" pitchFamily="34" charset="0"/>
                <a:ea typeface="Calibri" pitchFamily="34" charset="-122"/>
                <a:cs typeface="Calibri" pitchFamily="34" charset="-120"/>
              </a:rPr>
              <a:t>PHASE 3</a:t>
            </a:r>
            <a:endParaRPr lang="en-US" sz="1100" dirty="0"/>
          </a:p>
        </p:txBody>
      </p:sp>
      <p:sp>
        <p:nvSpPr>
          <p:cNvPr id="19" name="Text 17"/>
          <p:cNvSpPr txBox="1"/>
          <p:nvPr/>
        </p:nvSpPr>
        <p:spPr>
          <a:xfrm>
            <a:off x="6333592" y="5029200"/>
            <a:ext cx="2352980" cy="310896"/>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1975–81</a:t>
            </a:r>
            <a:endParaRPr lang="en-US" sz="1900" dirty="0"/>
          </a:p>
        </p:txBody>
      </p:sp>
      <p:sp>
        <p:nvSpPr>
          <p:cNvPr id="20" name="Text 18"/>
          <p:cNvSpPr txBox="1"/>
          <p:nvPr/>
        </p:nvSpPr>
        <p:spPr>
          <a:xfrm>
            <a:off x="6333592" y="5358384"/>
            <a:ext cx="2352980" cy="237744"/>
          </a:xfrm>
          <a:prstGeom prst="rect">
            <a:avLst/>
          </a:prstGeom>
          <a:noFill/>
          <a:ln/>
        </p:spPr>
        <p:txBody>
          <a:bodyPr wrap="square" lIns="0" tIns="0" rIns="0" bIns="0" rtlCol="0" anchor="ctr"/>
          <a:lstStyle/>
          <a:p>
            <a:pPr algn="ctr" indent="0" marL="0">
              <a:buNone/>
            </a:pPr>
            <a:r>
              <a:rPr lang="en-US" sz="1150" dirty="0">
                <a:solidFill>
                  <a:srgbClr val="E8CFD0"/>
                </a:solidFill>
                <a:latin typeface="Calibri" pitchFamily="34" charset="0"/>
                <a:ea typeface="Calibri" pitchFamily="34" charset="-122"/>
                <a:cs typeface="Calibri" pitchFamily="34" charset="-120"/>
              </a:rPr>
              <a:t>Instrumentality</a:t>
            </a:r>
            <a:endParaRPr lang="en-US" sz="1150" dirty="0"/>
          </a:p>
        </p:txBody>
      </p:sp>
      <p:sp>
        <p:nvSpPr>
          <p:cNvPr id="21" name="Shape 19"/>
          <p:cNvSpPr/>
          <p:nvPr/>
        </p:nvSpPr>
        <p:spPr>
          <a:xfrm>
            <a:off x="9052331" y="4663440"/>
            <a:ext cx="2572436" cy="1024128"/>
          </a:xfrm>
          <a:prstGeom prst="roundRect">
            <a:avLst>
              <a:gd name="adj" fmla="val 7143"/>
            </a:avLst>
          </a:prstGeom>
          <a:solidFill>
            <a:srgbClr val="C9A227"/>
          </a:solidFill>
          <a:ln w="12700">
            <a:solidFill>
              <a:srgbClr val="C9A227"/>
            </a:solidFill>
            <a:prstDash val="solid"/>
          </a:ln>
        </p:spPr>
      </p:sp>
      <p:sp>
        <p:nvSpPr>
          <p:cNvPr id="22" name="Text 20"/>
          <p:cNvSpPr txBox="1"/>
          <p:nvPr/>
        </p:nvSpPr>
        <p:spPr>
          <a:xfrm>
            <a:off x="9162059" y="4791456"/>
            <a:ext cx="2352980" cy="237744"/>
          </a:xfrm>
          <a:prstGeom prst="rect">
            <a:avLst/>
          </a:prstGeom>
          <a:noFill/>
          <a:ln/>
        </p:spPr>
        <p:txBody>
          <a:bodyPr wrap="square" lIns="0" tIns="0" rIns="0" bIns="0" rtlCol="0" anchor="ctr"/>
          <a:lstStyle/>
          <a:p>
            <a:pPr algn="ctr" indent="0" marL="0">
              <a:buNone/>
            </a:pPr>
            <a:r>
              <a:rPr lang="en-US" sz="1100" b="1" spc="100" kern="0" dirty="0">
                <a:solidFill>
                  <a:srgbClr val="5A0C0E"/>
                </a:solidFill>
                <a:latin typeface="Calibri" pitchFamily="34" charset="0"/>
                <a:ea typeface="Calibri" pitchFamily="34" charset="-122"/>
                <a:cs typeface="Calibri" pitchFamily="34" charset="-120"/>
              </a:rPr>
              <a:t>PHASE 4</a:t>
            </a:r>
            <a:endParaRPr lang="en-US" sz="1100" dirty="0"/>
          </a:p>
        </p:txBody>
      </p:sp>
      <p:sp>
        <p:nvSpPr>
          <p:cNvPr id="23" name="Text 21"/>
          <p:cNvSpPr txBox="1"/>
          <p:nvPr/>
        </p:nvSpPr>
        <p:spPr>
          <a:xfrm>
            <a:off x="9162059" y="5029200"/>
            <a:ext cx="2352980" cy="310896"/>
          </a:xfrm>
          <a:prstGeom prst="rect">
            <a:avLst/>
          </a:prstGeom>
          <a:noFill/>
          <a:ln/>
        </p:spPr>
        <p:txBody>
          <a:bodyPr wrap="square" lIns="0" tIns="0" rIns="0" bIns="0" rtlCol="0" anchor="ctr"/>
          <a:lstStyle/>
          <a:p>
            <a:pPr algn="ctr" indent="0" marL="0">
              <a:buNone/>
            </a:pPr>
            <a:r>
              <a:rPr lang="en-US" sz="1900" b="1" dirty="0">
                <a:solidFill>
                  <a:srgbClr val="5A0C0E"/>
                </a:solidFill>
                <a:latin typeface="Cambria" pitchFamily="34" charset="0"/>
                <a:ea typeface="Cambria" pitchFamily="34" charset="-122"/>
                <a:cs typeface="Cambria" pitchFamily="34" charset="-120"/>
              </a:rPr>
              <a:t>2002</a:t>
            </a:r>
            <a:endParaRPr lang="en-US" sz="1900" dirty="0"/>
          </a:p>
        </p:txBody>
      </p:sp>
      <p:sp>
        <p:nvSpPr>
          <p:cNvPr id="24" name="Text 22"/>
          <p:cNvSpPr txBox="1"/>
          <p:nvPr/>
        </p:nvSpPr>
        <p:spPr>
          <a:xfrm>
            <a:off x="9162059" y="5358384"/>
            <a:ext cx="2352980" cy="237744"/>
          </a:xfrm>
          <a:prstGeom prst="rect">
            <a:avLst/>
          </a:prstGeom>
          <a:noFill/>
          <a:ln/>
        </p:spPr>
        <p:txBody>
          <a:bodyPr wrap="square" lIns="0" tIns="0" rIns="0" bIns="0" rtlCol="0" anchor="ctr"/>
          <a:lstStyle/>
          <a:p>
            <a:pPr algn="ctr" indent="0" marL="0">
              <a:buNone/>
            </a:pPr>
            <a:r>
              <a:rPr lang="en-US" sz="1150" dirty="0">
                <a:solidFill>
                  <a:srgbClr val="5A0C0E"/>
                </a:solidFill>
                <a:latin typeface="Calibri" pitchFamily="34" charset="0"/>
                <a:ea typeface="Calibri" pitchFamily="34" charset="-122"/>
                <a:cs typeface="Calibri" pitchFamily="34" charset="-120"/>
              </a:rPr>
              <a:t>The final word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a:t>
            </a:r>
            <a:endParaRPr lang="en-US" sz="1000" dirty="0"/>
          </a:p>
        </p:txBody>
      </p:sp>
      <p:sp>
        <p:nvSpPr>
          <p:cNvPr id="3" name="Text 1"/>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00" kern="0" dirty="0">
                <a:solidFill>
                  <a:srgbClr val="C9A227"/>
                </a:solidFill>
                <a:latin typeface="Calibri" pitchFamily="34" charset="0"/>
                <a:ea typeface="Calibri" pitchFamily="34" charset="-122"/>
                <a:cs typeface="Calibri" pitchFamily="34" charset="-120"/>
              </a:rPr>
              <a:t>PHASES 1 &amp; 2</a:t>
            </a:r>
            <a:endParaRPr lang="en-US" sz="1050" dirty="0"/>
          </a:p>
        </p:txBody>
      </p:sp>
      <p:sp>
        <p:nvSpPr>
          <p:cNvPr id="4" name="Text 2"/>
          <p:cNvSpPr txBox="1"/>
          <p:nvPr/>
        </p:nvSpPr>
        <p:spPr>
          <a:xfrm>
            <a:off x="566928" y="603504"/>
            <a:ext cx="11057839" cy="603504"/>
          </a:xfrm>
          <a:prstGeom prst="rect">
            <a:avLst/>
          </a:prstGeom>
          <a:noFill/>
          <a:ln/>
        </p:spPr>
        <p:txBody>
          <a:bodyPr wrap="square" lIns="0" tIns="0" rIns="0" bIns="0" rtlCol="0" anchor="ctr"/>
          <a:lstStyle/>
          <a:p>
            <a:pPr indent="0" marL="0">
              <a:buNone/>
            </a:pPr>
            <a:r>
              <a:rPr lang="en-US" sz="2900" b="1" dirty="0">
                <a:solidFill>
                  <a:srgbClr val="7B1113"/>
                </a:solidFill>
                <a:latin typeface="Cambria" pitchFamily="34" charset="0"/>
                <a:ea typeface="Cambria" pitchFamily="34" charset="-122"/>
                <a:cs typeface="Cambria" pitchFamily="34" charset="-120"/>
              </a:rPr>
              <a:t>From a Narrow Reading to a Wide One</a:t>
            </a:r>
            <a:endParaRPr lang="en-US" sz="2900" dirty="0"/>
          </a:p>
        </p:txBody>
      </p:sp>
      <p:sp>
        <p:nvSpPr>
          <p:cNvPr id="5" name="Shape 3"/>
          <p:cNvSpPr/>
          <p:nvPr/>
        </p:nvSpPr>
        <p:spPr>
          <a:xfrm>
            <a:off x="566928" y="1645920"/>
            <a:ext cx="5346040" cy="4041648"/>
          </a:xfrm>
          <a:prstGeom prst="roundRect">
            <a:avLst>
              <a:gd name="adj" fmla="val 1810"/>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6" name="Text 4"/>
          <p:cNvSpPr txBox="1"/>
          <p:nvPr/>
        </p:nvSpPr>
        <p:spPr>
          <a:xfrm>
            <a:off x="841248" y="1828800"/>
            <a:ext cx="4797400" cy="256032"/>
          </a:xfrm>
          <a:prstGeom prst="rect">
            <a:avLst/>
          </a:prstGeom>
          <a:noFill/>
          <a:ln/>
        </p:spPr>
        <p:txBody>
          <a:bodyPr wrap="square" lIns="0" tIns="0" rIns="0" bIns="0" rtlCol="0" anchor="ctr"/>
          <a:lstStyle/>
          <a:p>
            <a:pPr indent="0" marL="0">
              <a:buNone/>
            </a:pPr>
            <a:r>
              <a:rPr lang="en-US" sz="1100" b="1" spc="150" kern="0" dirty="0">
                <a:solidFill>
                  <a:srgbClr val="B3261E"/>
                </a:solidFill>
                <a:latin typeface="Calibri" pitchFamily="34" charset="0"/>
                <a:ea typeface="Calibri" pitchFamily="34" charset="-122"/>
                <a:cs typeface="Calibri" pitchFamily="34" charset="-120"/>
              </a:rPr>
              <a:t>PHASE 1  ·  1954  ·  REJECTED</a:t>
            </a:r>
            <a:endParaRPr lang="en-US" sz="1100" dirty="0"/>
          </a:p>
        </p:txBody>
      </p:sp>
      <p:sp>
        <p:nvSpPr>
          <p:cNvPr id="7" name="Text 5"/>
          <p:cNvSpPr txBox="1"/>
          <p:nvPr/>
        </p:nvSpPr>
        <p:spPr>
          <a:xfrm>
            <a:off x="841248" y="2084832"/>
            <a:ext cx="4797400" cy="347472"/>
          </a:xfrm>
          <a:prstGeom prst="rect">
            <a:avLst/>
          </a:prstGeom>
          <a:noFill/>
          <a:ln/>
        </p:spPr>
        <p:txBody>
          <a:bodyPr wrap="square" lIns="0" tIns="0" rIns="0" bIns="0" rtlCol="0" anchor="ctr"/>
          <a:lstStyle/>
          <a:p>
            <a:pPr indent="0" marL="0">
              <a:buNone/>
            </a:pPr>
            <a:r>
              <a:rPr lang="en-US" sz="1900" b="1" dirty="0">
                <a:solidFill>
                  <a:srgbClr val="7B1113"/>
                </a:solidFill>
                <a:latin typeface="Cambria" pitchFamily="34" charset="0"/>
                <a:ea typeface="Cambria" pitchFamily="34" charset="-122"/>
                <a:cs typeface="Cambria" pitchFamily="34" charset="-120"/>
              </a:rPr>
              <a:t>Univ. of Madras v. Santa Bai</a:t>
            </a:r>
            <a:endParaRPr lang="en-US" sz="1900" dirty="0"/>
          </a:p>
        </p:txBody>
      </p:sp>
      <p:sp>
        <p:nvSpPr>
          <p:cNvPr id="8" name="Text 6"/>
          <p:cNvSpPr txBox="1"/>
          <p:nvPr/>
        </p:nvSpPr>
        <p:spPr>
          <a:xfrm>
            <a:off x="841248" y="2432304"/>
            <a:ext cx="4797400" cy="27432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Madras HIGH COURT — not the Supreme Court</a:t>
            </a:r>
            <a:endParaRPr lang="en-US" sz="1200" dirty="0"/>
          </a:p>
        </p:txBody>
      </p:sp>
      <p:sp>
        <p:nvSpPr>
          <p:cNvPr id="9" name="Text 7"/>
          <p:cNvSpPr txBox="1"/>
          <p:nvPr/>
        </p:nvSpPr>
        <p:spPr>
          <a:xfrm>
            <a:off x="841248" y="2761488"/>
            <a:ext cx="4797400" cy="292608"/>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Applied EJUSDEM GENERIS — “of the same kind”.</a:t>
            </a:r>
            <a:endParaRPr lang="en-US" sz="1350" dirty="0"/>
          </a:p>
        </p:txBody>
      </p:sp>
      <p:sp>
        <p:nvSpPr>
          <p:cNvPr id="10" name="Shape 8"/>
          <p:cNvSpPr/>
          <p:nvPr/>
        </p:nvSpPr>
        <p:spPr>
          <a:xfrm>
            <a:off x="841248" y="3090672"/>
            <a:ext cx="4797400" cy="786384"/>
          </a:xfrm>
          <a:prstGeom prst="roundRect">
            <a:avLst>
              <a:gd name="adj" fmla="val 6977"/>
            </a:avLst>
          </a:prstGeom>
          <a:solidFill>
            <a:srgbClr val="FFFFFF"/>
          </a:solidFill>
          <a:ln w="9525">
            <a:solidFill>
              <a:srgbClr val="DFD9D9"/>
            </a:solidFill>
            <a:prstDash val="solid"/>
          </a:ln>
        </p:spPr>
      </p:sp>
      <p:sp>
        <p:nvSpPr>
          <p:cNvPr id="11" name="Text 9"/>
          <p:cNvSpPr txBox="1"/>
          <p:nvPr/>
        </p:nvSpPr>
        <p:spPr>
          <a:xfrm>
            <a:off x="969264" y="3145536"/>
            <a:ext cx="4541368" cy="694944"/>
          </a:xfrm>
          <a:prstGeom prst="rect">
            <a:avLst/>
          </a:prstGeom>
          <a:noFill/>
          <a:ln/>
        </p:spPr>
        <p:txBody>
          <a:bodyPr wrap="square" lIns="0" tIns="0" rIns="0" bIns="0"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In plain words:  “dogs, cats and other animals” means PETS — not lions. The general words take colour from the list before them.</a:t>
            </a:r>
            <a:endParaRPr lang="en-US" sz="1200" dirty="0"/>
          </a:p>
        </p:txBody>
      </p:sp>
      <p:sp>
        <p:nvSpPr>
          <p:cNvPr id="12" name="Text 10"/>
          <p:cNvSpPr txBox="1"/>
          <p:nvPr/>
        </p:nvSpPr>
        <p:spPr>
          <a:xfrm>
            <a:off x="841248" y="3986784"/>
            <a:ext cx="4797400" cy="7315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So: only bodies doing governmental / sovereign functions could be “State”. A university merely teaches → NOT State.</a:t>
            </a:r>
            <a:endParaRPr lang="en-US" sz="1300" dirty="0"/>
          </a:p>
        </p:txBody>
      </p:sp>
      <p:sp>
        <p:nvSpPr>
          <p:cNvPr id="13" name="Text 11"/>
          <p:cNvSpPr txBox="1"/>
          <p:nvPr/>
        </p:nvSpPr>
        <p:spPr>
          <a:xfrm>
            <a:off x="841248" y="5120640"/>
            <a:ext cx="4797400" cy="365760"/>
          </a:xfrm>
          <a:prstGeom prst="rect">
            <a:avLst/>
          </a:prstGeom>
          <a:noFill/>
          <a:ln/>
        </p:spPr>
        <p:txBody>
          <a:bodyPr wrap="square" lIns="0" tIns="0" rIns="0" bIns="0" rtlCol="0" anchor="ctr"/>
          <a:lstStyle/>
          <a:p>
            <a:pPr indent="0" marL="0">
              <a:buNone/>
            </a:pPr>
            <a:r>
              <a:rPr lang="en-US" sz="1500" b="1" dirty="0">
                <a:solidFill>
                  <a:srgbClr val="B3261E"/>
                </a:solidFill>
                <a:latin typeface="Calibri" pitchFamily="34" charset="0"/>
                <a:ea typeface="Calibri" pitchFamily="34" charset="-122"/>
                <a:cs typeface="Calibri" pitchFamily="34" charset="-120"/>
              </a:rPr>
              <a:t>✗   NO LONGER GOOD LAW</a:t>
            </a:r>
            <a:endParaRPr lang="en-US" sz="1500" dirty="0"/>
          </a:p>
        </p:txBody>
      </p:sp>
      <p:sp>
        <p:nvSpPr>
          <p:cNvPr id="14" name="Shape 12"/>
          <p:cNvSpPr/>
          <p:nvPr/>
        </p:nvSpPr>
        <p:spPr>
          <a:xfrm>
            <a:off x="6278728" y="1645920"/>
            <a:ext cx="5346040" cy="4041648"/>
          </a:xfrm>
          <a:prstGeom prst="roundRect">
            <a:avLst>
              <a:gd name="adj" fmla="val 1810"/>
            </a:avLst>
          </a:prstGeom>
          <a:solidFill>
            <a:srgbClr val="EDF1F6"/>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5" name="Text 13"/>
          <p:cNvSpPr txBox="1"/>
          <p:nvPr/>
        </p:nvSpPr>
        <p:spPr>
          <a:xfrm>
            <a:off x="6553048" y="1828800"/>
            <a:ext cx="4797400" cy="256032"/>
          </a:xfrm>
          <a:prstGeom prst="rect">
            <a:avLst/>
          </a:prstGeom>
          <a:noFill/>
          <a:ln/>
        </p:spPr>
        <p:txBody>
          <a:bodyPr wrap="square" lIns="0" tIns="0" rIns="0" bIns="0" rtlCol="0" anchor="ctr"/>
          <a:lstStyle/>
          <a:p>
            <a:pPr indent="0" marL="0">
              <a:buNone/>
            </a:pPr>
            <a:r>
              <a:rPr lang="en-US" sz="1100" b="1" spc="150" kern="0" dirty="0">
                <a:solidFill>
                  <a:srgbClr val="1B6B3A"/>
                </a:solidFill>
                <a:latin typeface="Calibri" pitchFamily="34" charset="0"/>
                <a:ea typeface="Calibri" pitchFamily="34" charset="-122"/>
                <a:cs typeface="Calibri" pitchFamily="34" charset="-120"/>
              </a:rPr>
              <a:t>PHASE 2  ·  1962 &amp; 1967  ·  SETTLED</a:t>
            </a:r>
            <a:endParaRPr lang="en-US" sz="1100" dirty="0"/>
          </a:p>
        </p:txBody>
      </p:sp>
      <p:sp>
        <p:nvSpPr>
          <p:cNvPr id="16" name="Text 14"/>
          <p:cNvSpPr txBox="1"/>
          <p:nvPr/>
        </p:nvSpPr>
        <p:spPr>
          <a:xfrm>
            <a:off x="6553048" y="2084832"/>
            <a:ext cx="4797400" cy="292608"/>
          </a:xfrm>
          <a:prstGeom prst="rect">
            <a:avLst/>
          </a:prstGeom>
          <a:noFill/>
          <a:ln/>
        </p:spPr>
        <p:txBody>
          <a:bodyPr wrap="square" lIns="0" tIns="0" rIns="0" bIns="0" rtlCol="0" anchor="ctr"/>
          <a:lstStyle/>
          <a:p>
            <a:pPr indent="0" marL="0">
              <a:buNone/>
            </a:pPr>
            <a:r>
              <a:rPr lang="en-US" sz="1700" b="1" dirty="0">
                <a:solidFill>
                  <a:srgbClr val="1F3A5F"/>
                </a:solidFill>
                <a:latin typeface="Cambria" pitchFamily="34" charset="0"/>
                <a:ea typeface="Cambria" pitchFamily="34" charset="-122"/>
                <a:cs typeface="Cambria" pitchFamily="34" charset="-120"/>
              </a:rPr>
              <a:t>Ujjam Bai (1962)</a:t>
            </a:r>
            <a:endParaRPr lang="en-US" sz="1700" dirty="0"/>
          </a:p>
        </p:txBody>
      </p:sp>
      <p:sp>
        <p:nvSpPr>
          <p:cNvPr id="17" name="Text 15"/>
          <p:cNvSpPr txBox="1"/>
          <p:nvPr/>
        </p:nvSpPr>
        <p:spPr>
          <a:xfrm>
            <a:off x="6553048" y="2359152"/>
            <a:ext cx="4797400" cy="310896"/>
          </a:xfrm>
          <a:prstGeom prst="rect">
            <a:avLst/>
          </a:prstGeom>
          <a:noFill/>
          <a:ln/>
        </p:spPr>
        <p:txBody>
          <a:bodyPr wrap="square" lIns="0" tIns="0" rIns="0" bIns="0" rtlCol="0" anchor="ctr"/>
          <a:lstStyle/>
          <a:p>
            <a:pPr indent="0" marL="0">
              <a:buNone/>
            </a:pPr>
            <a:r>
              <a:rPr lang="en-US" sz="1900" b="1" dirty="0">
                <a:solidFill>
                  <a:srgbClr val="1F3A5F"/>
                </a:solidFill>
                <a:latin typeface="Cambria" pitchFamily="34" charset="0"/>
                <a:ea typeface="Cambria" pitchFamily="34" charset="-122"/>
                <a:cs typeface="Cambria" pitchFamily="34" charset="-120"/>
              </a:rPr>
              <a:t>Rajasthan SEB v. Mohan Lal (1967)</a:t>
            </a:r>
            <a:endParaRPr lang="en-US" sz="1900" dirty="0"/>
          </a:p>
        </p:txBody>
      </p:sp>
      <p:sp>
        <p:nvSpPr>
          <p:cNvPr id="18" name="Text 16"/>
          <p:cNvSpPr txBox="1"/>
          <p:nvPr/>
        </p:nvSpPr>
        <p:spPr>
          <a:xfrm>
            <a:off x="6553048" y="2761488"/>
            <a:ext cx="4797400" cy="292608"/>
          </a:xfrm>
          <a:prstGeom prst="rect">
            <a:avLst/>
          </a:prstGeom>
          <a:noFill/>
          <a:ln/>
        </p:spPr>
        <p:txBody>
          <a:bodyPr wrap="square" lIns="0" tIns="0" rIns="0" bIns="0" rtlCol="0" anchor="ctr"/>
          <a:lstStyle/>
          <a:p>
            <a:pPr indent="0" marL="0">
              <a:buNone/>
            </a:pPr>
            <a:r>
              <a:rPr lang="en-US" sz="1350" b="1" dirty="0">
                <a:solidFill>
                  <a:srgbClr val="7B1113"/>
                </a:solidFill>
                <a:latin typeface="Calibri" pitchFamily="34" charset="0"/>
                <a:ea typeface="Calibri" pitchFamily="34" charset="-122"/>
                <a:cs typeface="Calibri" pitchFamily="34" charset="-120"/>
              </a:rPr>
              <a:t>Ejusdem generis CANNOT apply here.</a:t>
            </a:r>
            <a:endParaRPr lang="en-US" sz="1350" dirty="0"/>
          </a:p>
        </p:txBody>
      </p:sp>
      <p:sp>
        <p:nvSpPr>
          <p:cNvPr id="19" name="Shape 17"/>
          <p:cNvSpPr/>
          <p:nvPr/>
        </p:nvSpPr>
        <p:spPr>
          <a:xfrm>
            <a:off x="6553048" y="3090672"/>
            <a:ext cx="4797400" cy="786384"/>
          </a:xfrm>
          <a:prstGeom prst="roundRect">
            <a:avLst>
              <a:gd name="adj" fmla="val 6977"/>
            </a:avLst>
          </a:prstGeom>
          <a:solidFill>
            <a:srgbClr val="FFFFFF"/>
          </a:solidFill>
          <a:ln w="9525">
            <a:solidFill>
              <a:srgbClr val="DFD9D9"/>
            </a:solidFill>
            <a:prstDash val="solid"/>
          </a:ln>
        </p:spPr>
      </p:sp>
      <p:sp>
        <p:nvSpPr>
          <p:cNvPr id="20" name="Text 18"/>
          <p:cNvSpPr txBox="1"/>
          <p:nvPr/>
        </p:nvSpPr>
        <p:spPr>
          <a:xfrm>
            <a:off x="6681064" y="3145536"/>
            <a:ext cx="4541368" cy="694944"/>
          </a:xfrm>
          <a:prstGeom prst="rect">
            <a:avLst/>
          </a:prstGeom>
          <a:noFill/>
          <a:ln/>
        </p:spPr>
        <p:txBody>
          <a:bodyPr wrap="square" lIns="0" tIns="0" rIns="0" bIns="0"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Why? Parliament, Government and a Municipality share NO common kind. No common genus → the rule collapses.</a:t>
            </a:r>
            <a:endParaRPr lang="en-US" sz="1200" dirty="0"/>
          </a:p>
        </p:txBody>
      </p:sp>
      <p:sp>
        <p:nvSpPr>
          <p:cNvPr id="21" name="Text 19"/>
          <p:cNvSpPr txBox="1"/>
          <p:nvPr/>
        </p:nvSpPr>
        <p:spPr>
          <a:xfrm>
            <a:off x="6553048" y="3986784"/>
            <a:ext cx="4797400" cy="786384"/>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NEW RULE:  every authority created by the Constitution or by a statute, on whom powers are conferred by law, is “State”.</a:t>
            </a:r>
            <a:endParaRPr lang="en-US" sz="1300" dirty="0"/>
          </a:p>
        </p:txBody>
      </p:sp>
      <p:sp>
        <p:nvSpPr>
          <p:cNvPr id="22" name="Text 20"/>
          <p:cNvSpPr txBox="1"/>
          <p:nvPr/>
        </p:nvSpPr>
        <p:spPr>
          <a:xfrm>
            <a:off x="6553048" y="4956048"/>
            <a:ext cx="4797400" cy="566928"/>
          </a:xfrm>
          <a:prstGeom prst="rect">
            <a:avLst/>
          </a:prstGeom>
          <a:noFill/>
          <a:ln/>
        </p:spPr>
        <p:txBody>
          <a:bodyPr wrap="square" lIns="0" tIns="0" rIns="0" bIns="0" rtlCol="0" anchor="ctr"/>
          <a:lstStyle/>
          <a:p>
            <a:pPr indent="0" marL="0">
              <a:buNone/>
            </a:pPr>
            <a:r>
              <a:rPr lang="en-US" sz="1300" b="1" dirty="0">
                <a:solidFill>
                  <a:srgbClr val="1B6B3A"/>
                </a:solidFill>
                <a:latin typeface="Calibri" pitchFamily="34" charset="0"/>
                <a:ea typeface="Calibri" pitchFamily="34" charset="-122"/>
                <a:cs typeface="Calibri" pitchFamily="34" charset="-120"/>
              </a:rPr>
              <a:t>✓   It NEED NOT perform sovereign functions —</a:t>
            </a:r>
            <a:endParaRPr lang="en-US" sz="1300" dirty="0"/>
          </a:p>
          <a:p>
            <a:pPr indent="0" marL="0">
              <a:buNone/>
            </a:pPr>
            <a:r>
              <a:rPr lang="en-US" sz="1300" b="1" dirty="0">
                <a:solidFill>
                  <a:srgbClr val="1B6B3A"/>
                </a:solidFill>
                <a:latin typeface="Calibri" pitchFamily="34" charset="0"/>
                <a:ea typeface="Calibri" pitchFamily="34" charset="-122"/>
                <a:cs typeface="Calibri" pitchFamily="34" charset="-120"/>
              </a:rPr>
              <a:t>     it may even be purely COMMERCIAL.</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00" kern="0" dirty="0">
                <a:solidFill>
                  <a:srgbClr val="C9A227"/>
                </a:solidFill>
                <a:latin typeface="Calibri" pitchFamily="34" charset="0"/>
                <a:ea typeface="Calibri" pitchFamily="34" charset="-122"/>
                <a:cs typeface="Calibri" pitchFamily="34" charset="-120"/>
              </a:rPr>
              <a:t>PHASE 3  ·  1975–1981</a:t>
            </a:r>
            <a:endParaRPr lang="en-US" sz="1050" dirty="0"/>
          </a:p>
        </p:txBody>
      </p:sp>
      <p:sp>
        <p:nvSpPr>
          <p:cNvPr id="4" name="Text 2"/>
          <p:cNvSpPr txBox="1"/>
          <p:nvPr/>
        </p:nvSpPr>
        <p:spPr>
          <a:xfrm>
            <a:off x="566928" y="603504"/>
            <a:ext cx="11057839" cy="603504"/>
          </a:xfrm>
          <a:prstGeom prst="rect">
            <a:avLst/>
          </a:prstGeom>
          <a:noFill/>
          <a:ln/>
        </p:spPr>
        <p:txBody>
          <a:bodyPr wrap="square" lIns="0" tIns="0" rIns="0" bIns="0" rtlCol="0" anchor="ctr"/>
          <a:lstStyle/>
          <a:p>
            <a:pPr indent="0" marL="0">
              <a:buNone/>
            </a:pPr>
            <a:r>
              <a:rPr lang="en-US" sz="2900" b="1" dirty="0">
                <a:solidFill>
                  <a:srgbClr val="7B1113"/>
                </a:solidFill>
                <a:latin typeface="Cambria" pitchFamily="34" charset="0"/>
                <a:ea typeface="Cambria" pitchFamily="34" charset="-122"/>
                <a:cs typeface="Cambria" pitchFamily="34" charset="-120"/>
              </a:rPr>
              <a:t>Ajay Hasia — Six Tests, Six Plain Questions</a:t>
            </a:r>
            <a:endParaRPr lang="en-US" sz="2900" dirty="0"/>
          </a:p>
        </p:txBody>
      </p:sp>
      <p:sp>
        <p:nvSpPr>
          <p:cNvPr id="5" name="Text 3"/>
          <p:cNvSpPr txBox="1"/>
          <p:nvPr/>
        </p:nvSpPr>
        <p:spPr>
          <a:xfrm>
            <a:off x="566928" y="1188720"/>
            <a:ext cx="11057839" cy="292608"/>
          </a:xfrm>
          <a:prstGeom prst="rect">
            <a:avLst/>
          </a:prstGeom>
          <a:noFill/>
          <a:ln/>
        </p:spPr>
        <p:txBody>
          <a:bodyPr wrap="square" lIns="0" tIns="0" rIns="0" bIns="0"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The government also acts through societies and companies. So: who is really in charge?</a:t>
            </a:r>
            <a:endParaRPr lang="en-US" sz="1300" dirty="0"/>
          </a:p>
        </p:txBody>
      </p:sp>
      <p:sp>
        <p:nvSpPr>
          <p:cNvPr id="6" name="Shape 4"/>
          <p:cNvSpPr/>
          <p:nvPr/>
        </p:nvSpPr>
        <p:spPr>
          <a:xfrm>
            <a:off x="566928" y="1810512"/>
            <a:ext cx="3515258" cy="1572768"/>
          </a:xfrm>
          <a:prstGeom prst="roundRect">
            <a:avLst>
              <a:gd name="adj" fmla="val 4651"/>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7" name="Shape 5"/>
          <p:cNvSpPr/>
          <p:nvPr/>
        </p:nvSpPr>
        <p:spPr>
          <a:xfrm>
            <a:off x="768096" y="1993392"/>
            <a:ext cx="365760" cy="365760"/>
          </a:xfrm>
          <a:prstGeom prst="ellipse">
            <a:avLst/>
          </a:prstGeom>
          <a:solidFill>
            <a:srgbClr val="7B1113"/>
          </a:solidFill>
          <a:ln w="12700">
            <a:solidFill>
              <a:srgbClr val="7B1113"/>
            </a:solidFill>
            <a:prstDash val="solid"/>
          </a:ln>
        </p:spPr>
      </p:sp>
      <p:sp>
        <p:nvSpPr>
          <p:cNvPr id="8" name="Text 6"/>
          <p:cNvSpPr txBox="1"/>
          <p:nvPr/>
        </p:nvSpPr>
        <p:spPr>
          <a:xfrm>
            <a:off x="768096" y="19933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225296" y="2011680"/>
            <a:ext cx="2655722" cy="329184"/>
          </a:xfrm>
          <a:prstGeom prst="rect">
            <a:avLst/>
          </a:prstGeom>
          <a:noFill/>
          <a:ln/>
        </p:spPr>
        <p:txBody>
          <a:bodyPr wrap="square" lIns="0" tIns="0" rIns="0" bIns="0" rtlCol="0" anchor="ctr"/>
          <a:lstStyle/>
          <a:p>
            <a:pPr indent="0" marL="0">
              <a:buNone/>
            </a:pPr>
            <a:r>
              <a:rPr lang="en-US" sz="1500" b="1" dirty="0">
                <a:solidFill>
                  <a:srgbClr val="7B1113"/>
                </a:solidFill>
                <a:latin typeface="Calibri" pitchFamily="34" charset="0"/>
                <a:ea typeface="Calibri" pitchFamily="34" charset="-122"/>
                <a:cs typeface="Calibri" pitchFamily="34" charset="-120"/>
              </a:rPr>
              <a:t>Who OWNS it?</a:t>
            </a:r>
            <a:endParaRPr lang="en-US" sz="1500" dirty="0"/>
          </a:p>
        </p:txBody>
      </p:sp>
      <p:sp>
        <p:nvSpPr>
          <p:cNvPr id="10" name="Text 8"/>
          <p:cNvSpPr txBox="1"/>
          <p:nvPr/>
        </p:nvSpPr>
        <p:spPr>
          <a:xfrm>
            <a:off x="768096" y="2468880"/>
            <a:ext cx="3112922" cy="786384"/>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Share capital held by the Government</a:t>
            </a:r>
            <a:endParaRPr lang="en-US" sz="1200" dirty="0"/>
          </a:p>
        </p:txBody>
      </p:sp>
      <p:sp>
        <p:nvSpPr>
          <p:cNvPr id="11" name="Shape 9"/>
          <p:cNvSpPr/>
          <p:nvPr/>
        </p:nvSpPr>
        <p:spPr>
          <a:xfrm>
            <a:off x="4338218" y="1810512"/>
            <a:ext cx="3515258" cy="1572768"/>
          </a:xfrm>
          <a:prstGeom prst="roundRect">
            <a:avLst>
              <a:gd name="adj" fmla="val 4651"/>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2" name="Shape 10"/>
          <p:cNvSpPr/>
          <p:nvPr/>
        </p:nvSpPr>
        <p:spPr>
          <a:xfrm>
            <a:off x="4539386" y="1993392"/>
            <a:ext cx="365760" cy="365760"/>
          </a:xfrm>
          <a:prstGeom prst="ellipse">
            <a:avLst/>
          </a:prstGeom>
          <a:solidFill>
            <a:srgbClr val="7B1113"/>
          </a:solidFill>
          <a:ln w="12700">
            <a:solidFill>
              <a:srgbClr val="7B1113"/>
            </a:solidFill>
            <a:prstDash val="solid"/>
          </a:ln>
        </p:spPr>
      </p:sp>
      <p:sp>
        <p:nvSpPr>
          <p:cNvPr id="13" name="Text 11"/>
          <p:cNvSpPr txBox="1"/>
          <p:nvPr/>
        </p:nvSpPr>
        <p:spPr>
          <a:xfrm>
            <a:off x="4539386" y="19933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996586" y="2011680"/>
            <a:ext cx="2655722" cy="329184"/>
          </a:xfrm>
          <a:prstGeom prst="rect">
            <a:avLst/>
          </a:prstGeom>
          <a:noFill/>
          <a:ln/>
        </p:spPr>
        <p:txBody>
          <a:bodyPr wrap="square" lIns="0" tIns="0" rIns="0" bIns="0" rtlCol="0" anchor="ctr"/>
          <a:lstStyle/>
          <a:p>
            <a:pPr indent="0" marL="0">
              <a:buNone/>
            </a:pPr>
            <a:r>
              <a:rPr lang="en-US" sz="1500" b="1" dirty="0">
                <a:solidFill>
                  <a:srgbClr val="7B1113"/>
                </a:solidFill>
                <a:latin typeface="Calibri" pitchFamily="34" charset="0"/>
                <a:ea typeface="Calibri" pitchFamily="34" charset="-122"/>
                <a:cs typeface="Calibri" pitchFamily="34" charset="-120"/>
              </a:rPr>
              <a:t>Who PAYS its bills?</a:t>
            </a:r>
            <a:endParaRPr lang="en-US" sz="1500" dirty="0"/>
          </a:p>
        </p:txBody>
      </p:sp>
      <p:sp>
        <p:nvSpPr>
          <p:cNvPr id="15" name="Text 13"/>
          <p:cNvSpPr txBox="1"/>
          <p:nvPr/>
        </p:nvSpPr>
        <p:spPr>
          <a:xfrm>
            <a:off x="4539386" y="2468880"/>
            <a:ext cx="3112922" cy="786384"/>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State assistance meets almost the ENTIRE expenditure</a:t>
            </a:r>
            <a:endParaRPr lang="en-US" sz="1200" dirty="0"/>
          </a:p>
        </p:txBody>
      </p:sp>
      <p:sp>
        <p:nvSpPr>
          <p:cNvPr id="16" name="Shape 14"/>
          <p:cNvSpPr/>
          <p:nvPr/>
        </p:nvSpPr>
        <p:spPr>
          <a:xfrm>
            <a:off x="8109509" y="1810512"/>
            <a:ext cx="3515258" cy="1572768"/>
          </a:xfrm>
          <a:prstGeom prst="roundRect">
            <a:avLst>
              <a:gd name="adj" fmla="val 4651"/>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7" name="Shape 15"/>
          <p:cNvSpPr/>
          <p:nvPr/>
        </p:nvSpPr>
        <p:spPr>
          <a:xfrm>
            <a:off x="8310677" y="1993392"/>
            <a:ext cx="365760" cy="365760"/>
          </a:xfrm>
          <a:prstGeom prst="ellipse">
            <a:avLst/>
          </a:prstGeom>
          <a:solidFill>
            <a:srgbClr val="7B1113"/>
          </a:solidFill>
          <a:ln w="12700">
            <a:solidFill>
              <a:srgbClr val="7B1113"/>
            </a:solidFill>
            <a:prstDash val="solid"/>
          </a:ln>
        </p:spPr>
      </p:sp>
      <p:sp>
        <p:nvSpPr>
          <p:cNvPr id="18" name="Text 16"/>
          <p:cNvSpPr txBox="1"/>
          <p:nvPr/>
        </p:nvSpPr>
        <p:spPr>
          <a:xfrm>
            <a:off x="8310677" y="19933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767877" y="2011680"/>
            <a:ext cx="2655722" cy="329184"/>
          </a:xfrm>
          <a:prstGeom prst="rect">
            <a:avLst/>
          </a:prstGeom>
          <a:noFill/>
          <a:ln/>
        </p:spPr>
        <p:txBody>
          <a:bodyPr wrap="square" lIns="0" tIns="0" rIns="0" bIns="0" rtlCol="0" anchor="ctr"/>
          <a:lstStyle/>
          <a:p>
            <a:pPr indent="0" marL="0">
              <a:buNone/>
            </a:pPr>
            <a:r>
              <a:rPr lang="en-US" sz="1500" b="1" dirty="0">
                <a:solidFill>
                  <a:srgbClr val="7B1113"/>
                </a:solidFill>
                <a:latin typeface="Calibri" pitchFamily="34" charset="0"/>
                <a:ea typeface="Calibri" pitchFamily="34" charset="-122"/>
                <a:cs typeface="Calibri" pitchFamily="34" charset="-120"/>
              </a:rPr>
              <a:t>Who PROTECTS it?</a:t>
            </a:r>
            <a:endParaRPr lang="en-US" sz="1500" dirty="0"/>
          </a:p>
        </p:txBody>
      </p:sp>
      <p:sp>
        <p:nvSpPr>
          <p:cNvPr id="20" name="Text 18"/>
          <p:cNvSpPr txBox="1"/>
          <p:nvPr/>
        </p:nvSpPr>
        <p:spPr>
          <a:xfrm>
            <a:off x="8310677" y="2468880"/>
            <a:ext cx="3112922" cy="786384"/>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State-conferred or State-protected MONOPOLY status</a:t>
            </a:r>
            <a:endParaRPr lang="en-US" sz="1200" dirty="0"/>
          </a:p>
        </p:txBody>
      </p:sp>
      <p:sp>
        <p:nvSpPr>
          <p:cNvPr id="21" name="Shape 19"/>
          <p:cNvSpPr/>
          <p:nvPr/>
        </p:nvSpPr>
        <p:spPr>
          <a:xfrm>
            <a:off x="566928" y="3621024"/>
            <a:ext cx="3515258" cy="1572768"/>
          </a:xfrm>
          <a:prstGeom prst="roundRect">
            <a:avLst>
              <a:gd name="adj" fmla="val 4651"/>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22" name="Shape 20"/>
          <p:cNvSpPr/>
          <p:nvPr/>
        </p:nvSpPr>
        <p:spPr>
          <a:xfrm>
            <a:off x="768096" y="3803904"/>
            <a:ext cx="365760" cy="365760"/>
          </a:xfrm>
          <a:prstGeom prst="ellipse">
            <a:avLst/>
          </a:prstGeom>
          <a:solidFill>
            <a:srgbClr val="7B1113"/>
          </a:solidFill>
          <a:ln w="12700">
            <a:solidFill>
              <a:srgbClr val="7B1113"/>
            </a:solidFill>
            <a:prstDash val="solid"/>
          </a:ln>
        </p:spPr>
      </p:sp>
      <p:sp>
        <p:nvSpPr>
          <p:cNvPr id="23" name="Text 21"/>
          <p:cNvSpPr txBox="1"/>
          <p:nvPr/>
        </p:nvSpPr>
        <p:spPr>
          <a:xfrm>
            <a:off x="768096" y="38039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1225296" y="3822192"/>
            <a:ext cx="2655722" cy="329184"/>
          </a:xfrm>
          <a:prstGeom prst="rect">
            <a:avLst/>
          </a:prstGeom>
          <a:noFill/>
          <a:ln/>
        </p:spPr>
        <p:txBody>
          <a:bodyPr wrap="square" lIns="0" tIns="0" rIns="0" bIns="0" rtlCol="0" anchor="ctr"/>
          <a:lstStyle/>
          <a:p>
            <a:pPr indent="0" marL="0">
              <a:buNone/>
            </a:pPr>
            <a:r>
              <a:rPr lang="en-US" sz="1500" b="1" dirty="0">
                <a:solidFill>
                  <a:srgbClr val="7B1113"/>
                </a:solidFill>
                <a:latin typeface="Calibri" pitchFamily="34" charset="0"/>
                <a:ea typeface="Calibri" pitchFamily="34" charset="-122"/>
                <a:cs typeface="Calibri" pitchFamily="34" charset="-120"/>
              </a:rPr>
              <a:t>Who RUNS it daily?</a:t>
            </a:r>
            <a:endParaRPr lang="en-US" sz="1500" dirty="0"/>
          </a:p>
        </p:txBody>
      </p:sp>
      <p:sp>
        <p:nvSpPr>
          <p:cNvPr id="25" name="Text 23"/>
          <p:cNvSpPr txBox="1"/>
          <p:nvPr/>
        </p:nvSpPr>
        <p:spPr>
          <a:xfrm>
            <a:off x="768096" y="4279392"/>
            <a:ext cx="3112922" cy="786384"/>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DEEP AND PERVASIVE State control</a:t>
            </a:r>
            <a:endParaRPr lang="en-US" sz="1200" dirty="0"/>
          </a:p>
        </p:txBody>
      </p:sp>
      <p:sp>
        <p:nvSpPr>
          <p:cNvPr id="26" name="Shape 24"/>
          <p:cNvSpPr/>
          <p:nvPr/>
        </p:nvSpPr>
        <p:spPr>
          <a:xfrm>
            <a:off x="4338218" y="3621024"/>
            <a:ext cx="3515258" cy="1572768"/>
          </a:xfrm>
          <a:prstGeom prst="roundRect">
            <a:avLst>
              <a:gd name="adj" fmla="val 4651"/>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27" name="Shape 25"/>
          <p:cNvSpPr/>
          <p:nvPr/>
        </p:nvSpPr>
        <p:spPr>
          <a:xfrm>
            <a:off x="4539386" y="3803904"/>
            <a:ext cx="365760" cy="365760"/>
          </a:xfrm>
          <a:prstGeom prst="ellipse">
            <a:avLst/>
          </a:prstGeom>
          <a:solidFill>
            <a:srgbClr val="7B1113"/>
          </a:solidFill>
          <a:ln w="12700">
            <a:solidFill>
              <a:srgbClr val="7B1113"/>
            </a:solidFill>
            <a:prstDash val="solid"/>
          </a:ln>
        </p:spPr>
      </p:sp>
      <p:sp>
        <p:nvSpPr>
          <p:cNvPr id="28" name="Text 26"/>
          <p:cNvSpPr txBox="1"/>
          <p:nvPr/>
        </p:nvSpPr>
        <p:spPr>
          <a:xfrm>
            <a:off x="4539386" y="38039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4996586" y="3822192"/>
            <a:ext cx="2655722" cy="329184"/>
          </a:xfrm>
          <a:prstGeom prst="rect">
            <a:avLst/>
          </a:prstGeom>
          <a:noFill/>
          <a:ln/>
        </p:spPr>
        <p:txBody>
          <a:bodyPr wrap="square" lIns="0" tIns="0" rIns="0" bIns="0" rtlCol="0" anchor="ctr"/>
          <a:lstStyle/>
          <a:p>
            <a:pPr indent="0" marL="0">
              <a:buNone/>
            </a:pPr>
            <a:r>
              <a:rPr lang="en-US" sz="1500" b="1" dirty="0">
                <a:solidFill>
                  <a:srgbClr val="7B1113"/>
                </a:solidFill>
                <a:latin typeface="Calibri" pitchFamily="34" charset="0"/>
                <a:ea typeface="Calibri" pitchFamily="34" charset="-122"/>
                <a:cs typeface="Calibri" pitchFamily="34" charset="-120"/>
              </a:rPr>
              <a:t>What does it DO?</a:t>
            </a:r>
            <a:endParaRPr lang="en-US" sz="1500" dirty="0"/>
          </a:p>
        </p:txBody>
      </p:sp>
      <p:sp>
        <p:nvSpPr>
          <p:cNvPr id="30" name="Text 28"/>
          <p:cNvSpPr txBox="1"/>
          <p:nvPr/>
        </p:nvSpPr>
        <p:spPr>
          <a:xfrm>
            <a:off x="4539386" y="4279392"/>
            <a:ext cx="3112922" cy="786384"/>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Functions of public importance, closely related to government functions</a:t>
            </a:r>
            <a:endParaRPr lang="en-US" sz="1200" dirty="0"/>
          </a:p>
        </p:txBody>
      </p:sp>
      <p:sp>
        <p:nvSpPr>
          <p:cNvPr id="31" name="Shape 29"/>
          <p:cNvSpPr/>
          <p:nvPr/>
        </p:nvSpPr>
        <p:spPr>
          <a:xfrm>
            <a:off x="8109509" y="3621024"/>
            <a:ext cx="3515258" cy="1572768"/>
          </a:xfrm>
          <a:prstGeom prst="roundRect">
            <a:avLst>
              <a:gd name="adj" fmla="val 4651"/>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32" name="Shape 30"/>
          <p:cNvSpPr/>
          <p:nvPr/>
        </p:nvSpPr>
        <p:spPr>
          <a:xfrm>
            <a:off x="8310677" y="3803904"/>
            <a:ext cx="365760" cy="365760"/>
          </a:xfrm>
          <a:prstGeom prst="ellipse">
            <a:avLst/>
          </a:prstGeom>
          <a:solidFill>
            <a:srgbClr val="7B1113"/>
          </a:solidFill>
          <a:ln w="12700">
            <a:solidFill>
              <a:srgbClr val="7B1113"/>
            </a:solidFill>
            <a:prstDash val="solid"/>
          </a:ln>
        </p:spPr>
      </p:sp>
      <p:sp>
        <p:nvSpPr>
          <p:cNvPr id="33" name="Text 31"/>
          <p:cNvSpPr txBox="1"/>
          <p:nvPr/>
        </p:nvSpPr>
        <p:spPr>
          <a:xfrm>
            <a:off x="8310677" y="38039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8767877" y="3822192"/>
            <a:ext cx="2655722" cy="329184"/>
          </a:xfrm>
          <a:prstGeom prst="rect">
            <a:avLst/>
          </a:prstGeom>
          <a:noFill/>
          <a:ln/>
        </p:spPr>
        <p:txBody>
          <a:bodyPr wrap="square" lIns="0" tIns="0" rIns="0" bIns="0" rtlCol="0" anchor="ctr"/>
          <a:lstStyle/>
          <a:p>
            <a:pPr indent="0" marL="0">
              <a:buNone/>
            </a:pPr>
            <a:r>
              <a:rPr lang="en-US" sz="1500" b="1" dirty="0">
                <a:solidFill>
                  <a:srgbClr val="7B1113"/>
                </a:solidFill>
                <a:latin typeface="Calibri" pitchFamily="34" charset="0"/>
                <a:ea typeface="Calibri" pitchFamily="34" charset="-122"/>
                <a:cs typeface="Calibri" pitchFamily="34" charset="-120"/>
              </a:rPr>
              <a:t>Where did it COME FROM?</a:t>
            </a:r>
            <a:endParaRPr lang="en-US" sz="1500" dirty="0"/>
          </a:p>
        </p:txBody>
      </p:sp>
      <p:sp>
        <p:nvSpPr>
          <p:cNvPr id="35" name="Text 33"/>
          <p:cNvSpPr txBox="1"/>
          <p:nvPr/>
        </p:nvSpPr>
        <p:spPr>
          <a:xfrm>
            <a:off x="8310677" y="4279392"/>
            <a:ext cx="3112922" cy="786384"/>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 department of Government was transferred to it</a:t>
            </a:r>
            <a:endParaRPr lang="en-US" sz="1200" dirty="0"/>
          </a:p>
        </p:txBody>
      </p:sp>
      <p:sp>
        <p:nvSpPr>
          <p:cNvPr id="36" name="Shape 34"/>
          <p:cNvSpPr/>
          <p:nvPr/>
        </p:nvSpPr>
        <p:spPr>
          <a:xfrm>
            <a:off x="566928" y="5431536"/>
            <a:ext cx="11057839" cy="822960"/>
          </a:xfrm>
          <a:prstGeom prst="roundRect">
            <a:avLst>
              <a:gd name="adj" fmla="val 8889"/>
            </a:avLst>
          </a:prstGeom>
          <a:solidFill>
            <a:srgbClr val="FBF5E4"/>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37" name="Text 35"/>
          <p:cNvSpPr txBox="1"/>
          <p:nvPr/>
        </p:nvSpPr>
        <p:spPr>
          <a:xfrm>
            <a:off x="822960" y="5431536"/>
            <a:ext cx="10545775" cy="82296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Not a checklist to tick — the tests are weighed together.     FORM is irrelevant; the SUBSTANCE of control decides. A society, a company, even a private body can be “State”.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00" kern="0" dirty="0">
                <a:solidFill>
                  <a:srgbClr val="C9A227"/>
                </a:solidFill>
                <a:latin typeface="Calibri" pitchFamily="34" charset="0"/>
                <a:ea typeface="Calibri" pitchFamily="34" charset="-122"/>
                <a:cs typeface="Calibri" pitchFamily="34" charset="-120"/>
              </a:rPr>
              <a:t>PHASE 4  ·  2002</a:t>
            </a:r>
            <a:endParaRPr lang="en-US" sz="1050" dirty="0"/>
          </a:p>
        </p:txBody>
      </p:sp>
      <p:sp>
        <p:nvSpPr>
          <p:cNvPr id="4" name="Text 2"/>
          <p:cNvSpPr txBox="1"/>
          <p:nvPr/>
        </p:nvSpPr>
        <p:spPr>
          <a:xfrm>
            <a:off x="566928" y="603504"/>
            <a:ext cx="11057839" cy="603504"/>
          </a:xfrm>
          <a:prstGeom prst="rect">
            <a:avLst/>
          </a:prstGeom>
          <a:noFill/>
          <a:ln/>
        </p:spPr>
        <p:txBody>
          <a:bodyPr wrap="square" lIns="0" tIns="0" rIns="0" bIns="0" rtlCol="0" anchor="ctr"/>
          <a:lstStyle/>
          <a:p>
            <a:pPr indent="0" marL="0">
              <a:buNone/>
            </a:pPr>
            <a:r>
              <a:rPr lang="en-US" sz="2900" b="1" dirty="0">
                <a:solidFill>
                  <a:srgbClr val="7B1113"/>
                </a:solidFill>
                <a:latin typeface="Cambria" pitchFamily="34" charset="0"/>
                <a:ea typeface="Cambria" pitchFamily="34" charset="-122"/>
                <a:cs typeface="Cambria" pitchFamily="34" charset="-120"/>
              </a:rPr>
              <a:t>Pradeep Kumar Biswas v. IICB — The Final Word</a:t>
            </a:r>
            <a:endParaRPr lang="en-US" sz="2900" dirty="0"/>
          </a:p>
        </p:txBody>
      </p:sp>
      <p:sp>
        <p:nvSpPr>
          <p:cNvPr id="5" name="Shape 3"/>
          <p:cNvSpPr/>
          <p:nvPr/>
        </p:nvSpPr>
        <p:spPr>
          <a:xfrm>
            <a:off x="566928" y="1572768"/>
            <a:ext cx="2586152" cy="1060704"/>
          </a:xfrm>
          <a:prstGeom prst="roundRect">
            <a:avLst>
              <a:gd name="adj" fmla="val 6897"/>
            </a:avLst>
          </a:prstGeom>
          <a:solidFill>
            <a:srgbClr val="EDF1F6"/>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6" name="Text 4"/>
          <p:cNvSpPr txBox="1"/>
          <p:nvPr/>
        </p:nvSpPr>
        <p:spPr>
          <a:xfrm>
            <a:off x="658368" y="1682496"/>
            <a:ext cx="2403272" cy="475488"/>
          </a:xfrm>
          <a:prstGeom prst="rect">
            <a:avLst/>
          </a:prstGeom>
          <a:noFill/>
          <a:ln/>
        </p:spPr>
        <p:txBody>
          <a:bodyPr wrap="square" lIns="0" tIns="0" rIns="0" bIns="0" rtlCol="0" anchor="ctr"/>
          <a:lstStyle/>
          <a:p>
            <a:pPr algn="ctr" indent="0" marL="0">
              <a:buNone/>
            </a:pPr>
            <a:r>
              <a:rPr lang="en-US" sz="2700" b="1" dirty="0">
                <a:solidFill>
                  <a:srgbClr val="1F3A5F"/>
                </a:solidFill>
                <a:latin typeface="Cambria" pitchFamily="34" charset="0"/>
                <a:ea typeface="Cambria" pitchFamily="34" charset="-122"/>
                <a:cs typeface="Cambria" pitchFamily="34" charset="-120"/>
              </a:rPr>
              <a:t>7</a:t>
            </a:r>
            <a:endParaRPr lang="en-US" sz="2700" dirty="0"/>
          </a:p>
        </p:txBody>
      </p:sp>
      <p:sp>
        <p:nvSpPr>
          <p:cNvPr id="7" name="Text 5"/>
          <p:cNvSpPr txBox="1"/>
          <p:nvPr/>
        </p:nvSpPr>
        <p:spPr>
          <a:xfrm>
            <a:off x="658368" y="2176272"/>
            <a:ext cx="2403272" cy="365760"/>
          </a:xfrm>
          <a:prstGeom prst="rect">
            <a:avLst/>
          </a:prstGeom>
          <a:noFill/>
          <a:ln/>
        </p:spPr>
        <p:txBody>
          <a:bodyPr wrap="square" lIns="0" tIns="0" rIns="0" bIns="0" rtlCol="0" anchor="ctr"/>
          <a:lstStyle/>
          <a:p>
            <a:pPr algn="ctr" indent="0" marL="0">
              <a:buNone/>
            </a:pPr>
            <a:r>
              <a:rPr lang="en-US" sz="1000" b="1" spc="80" kern="0" dirty="0">
                <a:solidFill>
                  <a:srgbClr val="6B6B6B"/>
                </a:solidFill>
                <a:latin typeface="Calibri" pitchFamily="34" charset="0"/>
                <a:ea typeface="Calibri" pitchFamily="34" charset="-122"/>
                <a:cs typeface="Calibri" pitchFamily="34" charset="-120"/>
              </a:rPr>
              <a:t>JUDGE BENCH</a:t>
            </a:r>
            <a:endParaRPr lang="en-US" sz="1000" dirty="0"/>
          </a:p>
        </p:txBody>
      </p:sp>
      <p:sp>
        <p:nvSpPr>
          <p:cNvPr id="8" name="Shape 6"/>
          <p:cNvSpPr/>
          <p:nvPr/>
        </p:nvSpPr>
        <p:spPr>
          <a:xfrm>
            <a:off x="3390824" y="1572768"/>
            <a:ext cx="2586152" cy="1060704"/>
          </a:xfrm>
          <a:prstGeom prst="roundRect">
            <a:avLst>
              <a:gd name="adj" fmla="val 6897"/>
            </a:avLst>
          </a:prstGeom>
          <a:solidFill>
            <a:srgbClr val="EDF1F6"/>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9" name="Text 7"/>
          <p:cNvSpPr txBox="1"/>
          <p:nvPr/>
        </p:nvSpPr>
        <p:spPr>
          <a:xfrm>
            <a:off x="3482264" y="1682496"/>
            <a:ext cx="2403272" cy="475488"/>
          </a:xfrm>
          <a:prstGeom prst="rect">
            <a:avLst/>
          </a:prstGeom>
          <a:noFill/>
          <a:ln/>
        </p:spPr>
        <p:txBody>
          <a:bodyPr wrap="square" lIns="0" tIns="0" rIns="0" bIns="0" rtlCol="0" anchor="ctr"/>
          <a:lstStyle/>
          <a:p>
            <a:pPr algn="ctr" indent="0" marL="0">
              <a:buNone/>
            </a:pPr>
            <a:r>
              <a:rPr lang="en-US" sz="2700" b="1" dirty="0">
                <a:solidFill>
                  <a:srgbClr val="1F3A5F"/>
                </a:solidFill>
                <a:latin typeface="Cambria" pitchFamily="34" charset="0"/>
                <a:ea typeface="Cambria" pitchFamily="34" charset="-122"/>
                <a:cs typeface="Cambria" pitchFamily="34" charset="-120"/>
              </a:rPr>
              <a:t>5:2</a:t>
            </a:r>
            <a:endParaRPr lang="en-US" sz="2700" dirty="0"/>
          </a:p>
        </p:txBody>
      </p:sp>
      <p:sp>
        <p:nvSpPr>
          <p:cNvPr id="10" name="Text 8"/>
          <p:cNvSpPr txBox="1"/>
          <p:nvPr/>
        </p:nvSpPr>
        <p:spPr>
          <a:xfrm>
            <a:off x="3482264" y="2176272"/>
            <a:ext cx="2403272" cy="365760"/>
          </a:xfrm>
          <a:prstGeom prst="rect">
            <a:avLst/>
          </a:prstGeom>
          <a:noFill/>
          <a:ln/>
        </p:spPr>
        <p:txBody>
          <a:bodyPr wrap="square" lIns="0" tIns="0" rIns="0" bIns="0" rtlCol="0" anchor="ctr"/>
          <a:lstStyle/>
          <a:p>
            <a:pPr algn="ctr" indent="0" marL="0">
              <a:buNone/>
            </a:pPr>
            <a:r>
              <a:rPr lang="en-US" sz="1000" b="1" spc="80" kern="0" dirty="0">
                <a:solidFill>
                  <a:srgbClr val="6B6B6B"/>
                </a:solidFill>
                <a:latin typeface="Calibri" pitchFamily="34" charset="0"/>
                <a:ea typeface="Calibri" pitchFamily="34" charset="-122"/>
                <a:cs typeface="Calibri" pitchFamily="34" charset="-120"/>
              </a:rPr>
              <a:t>MAJORITY</a:t>
            </a:r>
            <a:endParaRPr lang="en-US" sz="1000" dirty="0"/>
          </a:p>
        </p:txBody>
      </p:sp>
      <p:sp>
        <p:nvSpPr>
          <p:cNvPr id="11" name="Shape 9"/>
          <p:cNvSpPr/>
          <p:nvPr/>
        </p:nvSpPr>
        <p:spPr>
          <a:xfrm>
            <a:off x="6214720" y="1572768"/>
            <a:ext cx="2586152" cy="1060704"/>
          </a:xfrm>
          <a:prstGeom prst="roundRect">
            <a:avLst>
              <a:gd name="adj" fmla="val 6897"/>
            </a:avLst>
          </a:prstGeom>
          <a:solidFill>
            <a:srgbClr val="EDF1F6"/>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2" name="Text 10"/>
          <p:cNvSpPr txBox="1"/>
          <p:nvPr/>
        </p:nvSpPr>
        <p:spPr>
          <a:xfrm>
            <a:off x="6306160" y="1682496"/>
            <a:ext cx="2403272" cy="475488"/>
          </a:xfrm>
          <a:prstGeom prst="rect">
            <a:avLst/>
          </a:prstGeom>
          <a:noFill/>
          <a:ln/>
        </p:spPr>
        <p:txBody>
          <a:bodyPr wrap="square" lIns="0" tIns="0" rIns="0" bIns="0" rtlCol="0" anchor="ctr"/>
          <a:lstStyle/>
          <a:p>
            <a:pPr algn="ctr" indent="0" marL="0">
              <a:buNone/>
            </a:pPr>
            <a:r>
              <a:rPr lang="en-US" sz="2700" b="1" dirty="0">
                <a:solidFill>
                  <a:srgbClr val="1F3A5F"/>
                </a:solidFill>
                <a:latin typeface="Cambria" pitchFamily="34" charset="0"/>
                <a:ea typeface="Cambria" pitchFamily="34" charset="-122"/>
                <a:cs typeface="Cambria" pitchFamily="34" charset="-120"/>
              </a:rPr>
              <a:t>CSIR</a:t>
            </a:r>
            <a:endParaRPr lang="en-US" sz="2700" dirty="0"/>
          </a:p>
        </p:txBody>
      </p:sp>
      <p:sp>
        <p:nvSpPr>
          <p:cNvPr id="13" name="Text 11"/>
          <p:cNvSpPr txBox="1"/>
          <p:nvPr/>
        </p:nvSpPr>
        <p:spPr>
          <a:xfrm>
            <a:off x="6306160" y="2176272"/>
            <a:ext cx="2403272" cy="365760"/>
          </a:xfrm>
          <a:prstGeom prst="rect">
            <a:avLst/>
          </a:prstGeom>
          <a:noFill/>
          <a:ln/>
        </p:spPr>
        <p:txBody>
          <a:bodyPr wrap="square" lIns="0" tIns="0" rIns="0" bIns="0" rtlCol="0" anchor="ctr"/>
          <a:lstStyle/>
          <a:p>
            <a:pPr algn="ctr" indent="0" marL="0">
              <a:buNone/>
            </a:pPr>
            <a:r>
              <a:rPr lang="en-US" sz="1000" b="1" spc="80" kern="0" dirty="0">
                <a:solidFill>
                  <a:srgbClr val="6B6B6B"/>
                </a:solidFill>
                <a:latin typeface="Calibri" pitchFamily="34" charset="0"/>
                <a:ea typeface="Calibri" pitchFamily="34" charset="-122"/>
                <a:cs typeface="Calibri" pitchFamily="34" charset="-120"/>
              </a:rPr>
              <a:t>HELD TO BE “STATE”</a:t>
            </a:r>
            <a:endParaRPr lang="en-US" sz="1000" dirty="0"/>
          </a:p>
        </p:txBody>
      </p:sp>
      <p:sp>
        <p:nvSpPr>
          <p:cNvPr id="14" name="Shape 12"/>
          <p:cNvSpPr/>
          <p:nvPr/>
        </p:nvSpPr>
        <p:spPr>
          <a:xfrm>
            <a:off x="9038615" y="1572768"/>
            <a:ext cx="2586152" cy="1060704"/>
          </a:xfrm>
          <a:prstGeom prst="roundRect">
            <a:avLst>
              <a:gd name="adj" fmla="val 6897"/>
            </a:avLst>
          </a:prstGeom>
          <a:solidFill>
            <a:srgbClr val="EDF1F6"/>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5" name="Text 13"/>
          <p:cNvSpPr txBox="1"/>
          <p:nvPr/>
        </p:nvSpPr>
        <p:spPr>
          <a:xfrm>
            <a:off x="9130055" y="1682496"/>
            <a:ext cx="2403272" cy="475488"/>
          </a:xfrm>
          <a:prstGeom prst="rect">
            <a:avLst/>
          </a:prstGeom>
          <a:noFill/>
          <a:ln/>
        </p:spPr>
        <p:txBody>
          <a:bodyPr wrap="square" lIns="0" tIns="0" rIns="0" bIns="0" rtlCol="0" anchor="ctr"/>
          <a:lstStyle/>
          <a:p>
            <a:pPr algn="ctr" indent="0" marL="0">
              <a:buNone/>
            </a:pPr>
            <a:r>
              <a:rPr lang="en-US" sz="2700" b="1" dirty="0">
                <a:solidFill>
                  <a:srgbClr val="1F3A5F"/>
                </a:solidFill>
                <a:latin typeface="Cambria" pitchFamily="34" charset="0"/>
                <a:ea typeface="Cambria" pitchFamily="34" charset="-122"/>
                <a:cs typeface="Cambria" pitchFamily="34" charset="-120"/>
              </a:rPr>
              <a:t>1975</a:t>
            </a:r>
            <a:endParaRPr lang="en-US" sz="2700" dirty="0"/>
          </a:p>
        </p:txBody>
      </p:sp>
      <p:sp>
        <p:nvSpPr>
          <p:cNvPr id="16" name="Text 14"/>
          <p:cNvSpPr txBox="1"/>
          <p:nvPr/>
        </p:nvSpPr>
        <p:spPr>
          <a:xfrm>
            <a:off x="9130055" y="2176272"/>
            <a:ext cx="2403272" cy="365760"/>
          </a:xfrm>
          <a:prstGeom prst="rect">
            <a:avLst/>
          </a:prstGeom>
          <a:noFill/>
          <a:ln/>
        </p:spPr>
        <p:txBody>
          <a:bodyPr wrap="square" lIns="0" tIns="0" rIns="0" bIns="0" rtlCol="0" anchor="ctr"/>
          <a:lstStyle/>
          <a:p>
            <a:pPr algn="ctr" indent="0" marL="0">
              <a:buNone/>
            </a:pPr>
            <a:r>
              <a:rPr lang="en-US" sz="1000" b="1" spc="80" kern="0" dirty="0">
                <a:solidFill>
                  <a:srgbClr val="6B6B6B"/>
                </a:solidFill>
                <a:latin typeface="Calibri" pitchFamily="34" charset="0"/>
                <a:ea typeface="Calibri" pitchFamily="34" charset="-122"/>
                <a:cs typeface="Calibri" pitchFamily="34" charset="-120"/>
              </a:rPr>
              <a:t>SABHAJIT TEWARY OVERRULED</a:t>
            </a:r>
            <a:endParaRPr lang="en-US" sz="1000" dirty="0"/>
          </a:p>
        </p:txBody>
      </p:sp>
      <p:sp>
        <p:nvSpPr>
          <p:cNvPr id="17" name="Shape 15"/>
          <p:cNvSpPr/>
          <p:nvPr/>
        </p:nvSpPr>
        <p:spPr>
          <a:xfrm>
            <a:off x="566928" y="2816352"/>
            <a:ext cx="5346040" cy="1883664"/>
          </a:xfrm>
          <a:prstGeom prst="roundRect">
            <a:avLst>
              <a:gd name="adj" fmla="val 3883"/>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8" name="Text 16"/>
          <p:cNvSpPr txBox="1"/>
          <p:nvPr/>
        </p:nvSpPr>
        <p:spPr>
          <a:xfrm>
            <a:off x="822960" y="2980944"/>
            <a:ext cx="4833976" cy="256032"/>
          </a:xfrm>
          <a:prstGeom prst="rect">
            <a:avLst/>
          </a:prstGeom>
          <a:noFill/>
          <a:ln/>
        </p:spPr>
        <p:txBody>
          <a:bodyPr wrap="square" lIns="0" tIns="0" rIns="0" bIns="0" rtlCol="0" anchor="ctr"/>
          <a:lstStyle/>
          <a:p>
            <a:pPr indent="0" marL="0">
              <a:buNone/>
            </a:pPr>
            <a:r>
              <a:rPr lang="en-US" sz="1100" b="1" spc="150" kern="0" dirty="0">
                <a:solidFill>
                  <a:srgbClr val="7B1113"/>
                </a:solidFill>
                <a:latin typeface="Calibri" pitchFamily="34" charset="0"/>
                <a:ea typeface="Calibri" pitchFamily="34" charset="-122"/>
                <a:cs typeface="Calibri" pitchFamily="34" charset="-120"/>
              </a:rPr>
              <a:t>THE TEST</a:t>
            </a:r>
            <a:endParaRPr lang="en-US" sz="1100" dirty="0"/>
          </a:p>
        </p:txBody>
      </p:sp>
      <p:sp>
        <p:nvSpPr>
          <p:cNvPr id="19" name="Text 17"/>
          <p:cNvSpPr txBox="1"/>
          <p:nvPr/>
        </p:nvSpPr>
        <p:spPr>
          <a:xfrm>
            <a:off x="822960" y="3255264"/>
            <a:ext cx="4833976" cy="658368"/>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The body must be FINANCIALLY, FUNCTIONALLY and ADMINISTRATIVELY dominated by the Government — and that control must be:</a:t>
            </a:r>
            <a:endParaRPr lang="en-US" sz="1300" dirty="0"/>
          </a:p>
        </p:txBody>
      </p:sp>
      <p:sp>
        <p:nvSpPr>
          <p:cNvPr id="20" name="Text 18"/>
          <p:cNvSpPr txBox="1"/>
          <p:nvPr/>
        </p:nvSpPr>
        <p:spPr>
          <a:xfrm>
            <a:off x="822960" y="3950208"/>
            <a:ext cx="4833976" cy="621792"/>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(a)  “deep and pervasive”</a:t>
            </a:r>
            <a:endParaRPr lang="en-US" sz="1400" dirty="0"/>
          </a:p>
          <a:p>
            <a:pPr indent="0" marL="0">
              <a:buNone/>
            </a:pPr>
            <a:r>
              <a:rPr lang="en-US" sz="1400" b="1" dirty="0">
                <a:solidFill>
                  <a:srgbClr val="1F3A5F"/>
                </a:solidFill>
                <a:latin typeface="Calibri" pitchFamily="34" charset="0"/>
                <a:ea typeface="Calibri" pitchFamily="34" charset="-122"/>
                <a:cs typeface="Calibri" pitchFamily="34" charset="-120"/>
              </a:rPr>
              <a:t>(b)  particular to that body</a:t>
            </a:r>
            <a:endParaRPr lang="en-US" sz="1400" dirty="0"/>
          </a:p>
        </p:txBody>
      </p:sp>
      <p:sp>
        <p:nvSpPr>
          <p:cNvPr id="21" name="Shape 19"/>
          <p:cNvSpPr/>
          <p:nvPr/>
        </p:nvSpPr>
        <p:spPr>
          <a:xfrm>
            <a:off x="6278728" y="2816352"/>
            <a:ext cx="5346040" cy="1883664"/>
          </a:xfrm>
          <a:prstGeom prst="roundRect">
            <a:avLst>
              <a:gd name="adj" fmla="val 3883"/>
            </a:avLst>
          </a:prstGeom>
          <a:solidFill>
            <a:srgbClr val="FBF5E4"/>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22" name="Text 20"/>
          <p:cNvSpPr txBox="1"/>
          <p:nvPr/>
        </p:nvSpPr>
        <p:spPr>
          <a:xfrm>
            <a:off x="6534760" y="2980944"/>
            <a:ext cx="4833976" cy="256032"/>
          </a:xfrm>
          <a:prstGeom prst="rect">
            <a:avLst/>
          </a:prstGeom>
          <a:noFill/>
          <a:ln/>
        </p:spPr>
        <p:txBody>
          <a:bodyPr wrap="square" lIns="0" tIns="0" rIns="0" bIns="0" rtlCol="0" anchor="ctr"/>
          <a:lstStyle/>
          <a:p>
            <a:pPr indent="0" marL="0">
              <a:buNone/>
            </a:pPr>
            <a:r>
              <a:rPr lang="en-US" sz="1100" b="1" spc="150" kern="0" dirty="0">
                <a:solidFill>
                  <a:srgbClr val="7B1113"/>
                </a:solidFill>
                <a:latin typeface="Calibri" pitchFamily="34" charset="0"/>
                <a:ea typeface="Calibri" pitchFamily="34" charset="-122"/>
                <a:cs typeface="Calibri" pitchFamily="34" charset="-120"/>
              </a:rPr>
              <a:t>THE LINE THAT DECIDES MOST QUESTIONS</a:t>
            </a:r>
            <a:endParaRPr lang="en-US" sz="1100" dirty="0"/>
          </a:p>
        </p:txBody>
      </p:sp>
      <p:sp>
        <p:nvSpPr>
          <p:cNvPr id="23" name="Text 21"/>
          <p:cNvSpPr txBox="1"/>
          <p:nvPr/>
        </p:nvSpPr>
        <p:spPr>
          <a:xfrm>
            <a:off x="6534760" y="3273552"/>
            <a:ext cx="4833976" cy="566928"/>
          </a:xfrm>
          <a:prstGeom prst="rect">
            <a:avLst/>
          </a:prstGeom>
          <a:noFill/>
          <a:ln/>
        </p:spPr>
        <p:txBody>
          <a:bodyPr wrap="square" lIns="0" tIns="0" rIns="0" bIns="0" rtlCol="0" anchor="ctr"/>
          <a:lstStyle/>
          <a:p>
            <a:pPr indent="0" marL="0">
              <a:buNone/>
            </a:pPr>
            <a:r>
              <a:rPr lang="en-US" sz="1800" b="1" dirty="0">
                <a:solidFill>
                  <a:srgbClr val="7B1113"/>
                </a:solidFill>
                <a:latin typeface="Cambria" pitchFamily="34" charset="0"/>
                <a:ea typeface="Cambria" pitchFamily="34" charset="-122"/>
                <a:cs typeface="Cambria" pitchFamily="34" charset="-120"/>
              </a:rPr>
              <a:t>Mere government funding, patronage or regulation is NOT enough.</a:t>
            </a:r>
            <a:endParaRPr lang="en-US" sz="1800" dirty="0"/>
          </a:p>
        </p:txBody>
      </p:sp>
      <p:sp>
        <p:nvSpPr>
          <p:cNvPr id="24" name="Text 22"/>
          <p:cNvSpPr txBox="1"/>
          <p:nvPr/>
        </p:nvSpPr>
        <p:spPr>
          <a:xfrm>
            <a:off x="6534760" y="3931920"/>
            <a:ext cx="4833976" cy="658368"/>
          </a:xfrm>
          <a:prstGeom prst="rect">
            <a:avLst/>
          </a:prstGeom>
          <a:noFill/>
          <a:ln/>
        </p:spPr>
        <p:txBody>
          <a:bodyPr wrap="square" lIns="0" tIns="0" rIns="0" bIns="0" rtlCol="0" anchor="ctr"/>
          <a:lstStyle/>
          <a:p>
            <a:pPr indent="0" marL="0">
              <a:buNone/>
            </a:pPr>
            <a:r>
              <a:rPr lang="en-US" sz="1300" i="1" dirty="0">
                <a:solidFill>
                  <a:srgbClr val="1A1A1A"/>
                </a:solidFill>
                <a:latin typeface="Calibri" pitchFamily="34" charset="0"/>
                <a:ea typeface="Calibri" pitchFamily="34" charset="-122"/>
                <a:cs typeface="Calibri" pitchFamily="34" charset="-120"/>
              </a:rPr>
              <a:t>Ask simply: is the government the real BOSS of this body — or only a donor and a regulator?</a:t>
            </a:r>
            <a:endParaRPr lang="en-US" sz="1300" dirty="0"/>
          </a:p>
        </p:txBody>
      </p:sp>
      <p:sp>
        <p:nvSpPr>
          <p:cNvPr id="25" name="Shape 23"/>
          <p:cNvSpPr/>
          <p:nvPr/>
        </p:nvSpPr>
        <p:spPr>
          <a:xfrm>
            <a:off x="566928" y="4882896"/>
            <a:ext cx="11057839" cy="1042416"/>
          </a:xfrm>
          <a:prstGeom prst="roundRect">
            <a:avLst>
              <a:gd name="adj" fmla="val 7018"/>
            </a:avLst>
          </a:prstGeom>
          <a:solidFill>
            <a:srgbClr val="EDF1F6"/>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26" name="Text 24"/>
          <p:cNvSpPr txBox="1"/>
          <p:nvPr/>
        </p:nvSpPr>
        <p:spPr>
          <a:xfrm>
            <a:off x="822960" y="5010912"/>
            <a:ext cx="2926080" cy="256032"/>
          </a:xfrm>
          <a:prstGeom prst="rect">
            <a:avLst/>
          </a:prstGeom>
          <a:noFill/>
          <a:ln/>
        </p:spPr>
        <p:txBody>
          <a:bodyPr wrap="square" lIns="0" tIns="0" rIns="0" bIns="0" rtlCol="0" anchor="ctr"/>
          <a:lstStyle/>
          <a:p>
            <a:pPr indent="0" marL="0">
              <a:buNone/>
            </a:pPr>
            <a:r>
              <a:rPr lang="en-US" sz="1100" b="1" spc="150" kern="0" dirty="0">
                <a:solidFill>
                  <a:srgbClr val="1F3A5F"/>
                </a:solidFill>
                <a:latin typeface="Calibri" pitchFamily="34" charset="0"/>
                <a:ea typeface="Calibri" pitchFamily="34" charset="-122"/>
                <a:cs typeface="Calibri" pitchFamily="34" charset="-120"/>
              </a:rPr>
              <a:t>WHY CSIR “FLIPPED”</a:t>
            </a:r>
            <a:endParaRPr lang="en-US" sz="1100" dirty="0"/>
          </a:p>
        </p:txBody>
      </p:sp>
      <p:sp>
        <p:nvSpPr>
          <p:cNvPr id="27" name="Text 25"/>
          <p:cNvSpPr txBox="1"/>
          <p:nvPr/>
        </p:nvSpPr>
        <p:spPr>
          <a:xfrm>
            <a:off x="822960" y="5266944"/>
            <a:ext cx="10545775" cy="512064"/>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1975 → NOT State  ·  2002 → State.   CSIR did not change — the TEST changed. Only a larger (7-judge) bench could overrule the earlier 5-judge decision.</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13</a:t>
            </a:r>
            <a:endParaRPr lang="en-US" sz="1000" dirty="0"/>
          </a:p>
        </p:txBody>
      </p:sp>
      <p:sp>
        <p:nvSpPr>
          <p:cNvPr id="3" name="Text 1"/>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00" kern="0" dirty="0">
                <a:solidFill>
                  <a:srgbClr val="C9A227"/>
                </a:solidFill>
                <a:latin typeface="Calibri" pitchFamily="34" charset="0"/>
                <a:ea typeface="Calibri" pitchFamily="34" charset="-122"/>
                <a:cs typeface="Calibri" pitchFamily="34" charset="-120"/>
              </a:rPr>
              <a:t>SECTION 3</a:t>
            </a:r>
            <a:endParaRPr lang="en-US" sz="1050" dirty="0"/>
          </a:p>
        </p:txBody>
      </p:sp>
      <p:sp>
        <p:nvSpPr>
          <p:cNvPr id="4" name="Text 2"/>
          <p:cNvSpPr txBox="1"/>
          <p:nvPr/>
        </p:nvSpPr>
        <p:spPr>
          <a:xfrm>
            <a:off x="566928" y="603504"/>
            <a:ext cx="11057839" cy="603504"/>
          </a:xfrm>
          <a:prstGeom prst="rect">
            <a:avLst/>
          </a:prstGeom>
          <a:noFill/>
          <a:ln/>
        </p:spPr>
        <p:txBody>
          <a:bodyPr wrap="square" lIns="0" tIns="0" rIns="0" bIns="0" rtlCol="0" anchor="ctr"/>
          <a:lstStyle/>
          <a:p>
            <a:pPr indent="0" marL="0">
              <a:buNone/>
            </a:pPr>
            <a:r>
              <a:rPr lang="en-US" sz="2900" b="1" dirty="0">
                <a:solidFill>
                  <a:srgbClr val="7B1113"/>
                </a:solidFill>
                <a:latin typeface="Cambria" pitchFamily="34" charset="0"/>
                <a:ea typeface="Cambria" pitchFamily="34" charset="-122"/>
                <a:cs typeface="Cambria" pitchFamily="34" charset="-120"/>
              </a:rPr>
              <a:t>Is the Judiciary “State”?</a:t>
            </a:r>
            <a:endParaRPr lang="en-US" sz="2900" dirty="0"/>
          </a:p>
        </p:txBody>
      </p:sp>
      <p:sp>
        <p:nvSpPr>
          <p:cNvPr id="5" name="Text 3"/>
          <p:cNvSpPr txBox="1"/>
          <p:nvPr/>
        </p:nvSpPr>
        <p:spPr>
          <a:xfrm>
            <a:off x="566928" y="1188720"/>
            <a:ext cx="11057839" cy="292608"/>
          </a:xfrm>
          <a:prstGeom prst="rect">
            <a:avLst/>
          </a:prstGeom>
          <a:noFill/>
          <a:ln/>
        </p:spPr>
        <p:txBody>
          <a:bodyPr wrap="square" lIns="0" tIns="0" rIns="0" bIns="0"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The answer is split — and the split is the question.</a:t>
            </a:r>
            <a:endParaRPr lang="en-US" sz="1300" dirty="0"/>
          </a:p>
        </p:txBody>
      </p:sp>
      <p:sp>
        <p:nvSpPr>
          <p:cNvPr id="6" name="Shape 4"/>
          <p:cNvSpPr/>
          <p:nvPr/>
        </p:nvSpPr>
        <p:spPr>
          <a:xfrm>
            <a:off x="566928" y="1755648"/>
            <a:ext cx="5346040" cy="3200400"/>
          </a:xfrm>
          <a:prstGeom prst="roundRect">
            <a:avLst>
              <a:gd name="adj" fmla="val 2286"/>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7" name="Text 5"/>
          <p:cNvSpPr txBox="1"/>
          <p:nvPr/>
        </p:nvSpPr>
        <p:spPr>
          <a:xfrm>
            <a:off x="841248" y="1938528"/>
            <a:ext cx="4797400" cy="384048"/>
          </a:xfrm>
          <a:prstGeom prst="rect">
            <a:avLst/>
          </a:prstGeom>
          <a:noFill/>
          <a:ln/>
        </p:spPr>
        <p:txBody>
          <a:bodyPr wrap="square" lIns="0" tIns="0" rIns="0" bIns="0" rtlCol="0" anchor="ctr"/>
          <a:lstStyle/>
          <a:p>
            <a:pPr indent="0" marL="0">
              <a:buNone/>
            </a:pPr>
            <a:r>
              <a:rPr lang="en-US" sz="2200" b="1" dirty="0">
                <a:solidFill>
                  <a:srgbClr val="B3261E"/>
                </a:solidFill>
                <a:latin typeface="Cambria" pitchFamily="34" charset="0"/>
                <a:ea typeface="Cambria" pitchFamily="34" charset="-122"/>
                <a:cs typeface="Cambria" pitchFamily="34" charset="-120"/>
              </a:rPr>
              <a:t>✗   NOT “STATE”</a:t>
            </a:r>
            <a:endParaRPr lang="en-US" sz="2200" dirty="0"/>
          </a:p>
        </p:txBody>
      </p:sp>
      <p:sp>
        <p:nvSpPr>
          <p:cNvPr id="8" name="Text 6"/>
          <p:cNvSpPr txBox="1"/>
          <p:nvPr/>
        </p:nvSpPr>
        <p:spPr>
          <a:xfrm>
            <a:off x="841248" y="2322576"/>
            <a:ext cx="4797400" cy="27432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when exercising JUDICIAL functions</a:t>
            </a:r>
            <a:endParaRPr lang="en-US" sz="1350" dirty="0"/>
          </a:p>
        </p:txBody>
      </p:sp>
      <p:sp>
        <p:nvSpPr>
          <p:cNvPr id="9" name="Text 7"/>
          <p:cNvSpPr txBox="1"/>
          <p:nvPr/>
        </p:nvSpPr>
        <p:spPr>
          <a:xfrm>
            <a:off x="841248" y="2633472"/>
            <a:ext cx="4797400" cy="310896"/>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Hearing cases · delivering judgments · judicial orders</a:t>
            </a:r>
            <a:endParaRPr lang="en-US" sz="1200" dirty="0"/>
          </a:p>
        </p:txBody>
      </p:sp>
      <p:sp>
        <p:nvSpPr>
          <p:cNvPr id="10" name="Text 8"/>
          <p:cNvSpPr txBox="1"/>
          <p:nvPr/>
        </p:nvSpPr>
        <p:spPr>
          <a:xfrm>
            <a:off x="841248" y="2999232"/>
            <a:ext cx="4797400" cy="713232"/>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Rationale:  to protect JUDICIAL INDEPENDENCE — a decision cannot itself be attacked as a rights violation, or litigation would never end.</a:t>
            </a:r>
            <a:endParaRPr lang="en-US" sz="1250" dirty="0"/>
          </a:p>
        </p:txBody>
      </p:sp>
      <p:sp>
        <p:nvSpPr>
          <p:cNvPr id="11" name="Text 9"/>
          <p:cNvSpPr txBox="1"/>
          <p:nvPr/>
        </p:nvSpPr>
        <p:spPr>
          <a:xfrm>
            <a:off x="841248" y="3785616"/>
            <a:ext cx="4797400" cy="1024128"/>
          </a:xfrm>
          <a:prstGeom prst="rect">
            <a:avLst/>
          </a:prstGeom>
          <a:noFill/>
          <a:ln/>
        </p:spPr>
        <p:txBody>
          <a:bodyPr wrap="square" lIns="0" tIns="0" rIns="0" bIns="0" rtlCol="0" anchor="ctr"/>
          <a:lstStyle/>
          <a:p>
            <a:pPr indent="0" marL="0">
              <a:buNone/>
            </a:pPr>
            <a:r>
              <a:rPr lang="en-US" sz="1250" dirty="0">
                <a:solidFill>
                  <a:srgbClr val="1F3A5F"/>
                </a:solidFill>
                <a:latin typeface="Calibri" pitchFamily="34" charset="0"/>
                <a:ea typeface="Calibri" pitchFamily="34" charset="-122"/>
                <a:cs typeface="Calibri" pitchFamily="34" charset="-120"/>
              </a:rPr>
              <a:t>•  Naresh Shridhar Mirajkar (1966), 9 judges — a judicial order cannot be challenged under Art. 32; the remedy is APPEAL.</a:t>
            </a:r>
            <a:endParaRPr lang="en-US" sz="1250" dirty="0"/>
          </a:p>
          <a:p>
            <a:pPr indent="0" marL="0">
              <a:buNone/>
            </a:pPr>
            <a:r>
              <a:rPr lang="en-US" sz="1250" dirty="0">
                <a:solidFill>
                  <a:srgbClr val="1F3A5F"/>
                </a:solidFill>
                <a:latin typeface="Calibri" pitchFamily="34" charset="0"/>
                <a:ea typeface="Calibri" pitchFamily="34" charset="-122"/>
                <a:cs typeface="Calibri" pitchFamily="34" charset="-120"/>
              </a:rPr>
              <a:t>•  Rupa Ashok Hurra (2002) — reaffirmed. Also the CURATIVE PETITION case.</a:t>
            </a:r>
            <a:endParaRPr lang="en-US" sz="1250" dirty="0"/>
          </a:p>
        </p:txBody>
      </p:sp>
      <p:sp>
        <p:nvSpPr>
          <p:cNvPr id="12" name="Shape 10"/>
          <p:cNvSpPr/>
          <p:nvPr/>
        </p:nvSpPr>
        <p:spPr>
          <a:xfrm>
            <a:off x="6278728" y="1755648"/>
            <a:ext cx="5346040" cy="3200400"/>
          </a:xfrm>
          <a:prstGeom prst="roundRect">
            <a:avLst>
              <a:gd name="adj" fmla="val 2286"/>
            </a:avLst>
          </a:prstGeom>
          <a:solidFill>
            <a:srgbClr val="EDF1F6"/>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3" name="Text 11"/>
          <p:cNvSpPr txBox="1"/>
          <p:nvPr/>
        </p:nvSpPr>
        <p:spPr>
          <a:xfrm>
            <a:off x="6553048" y="1938528"/>
            <a:ext cx="4797400" cy="384048"/>
          </a:xfrm>
          <a:prstGeom prst="rect">
            <a:avLst/>
          </a:prstGeom>
          <a:noFill/>
          <a:ln/>
        </p:spPr>
        <p:txBody>
          <a:bodyPr wrap="square" lIns="0" tIns="0" rIns="0" bIns="0" rtlCol="0" anchor="ctr"/>
          <a:lstStyle/>
          <a:p>
            <a:pPr indent="0" marL="0">
              <a:buNone/>
            </a:pPr>
            <a:r>
              <a:rPr lang="en-US" sz="2200" b="1" dirty="0">
                <a:solidFill>
                  <a:srgbClr val="1B6B3A"/>
                </a:solidFill>
                <a:latin typeface="Cambria" pitchFamily="34" charset="0"/>
                <a:ea typeface="Cambria" pitchFamily="34" charset="-122"/>
                <a:cs typeface="Cambria" pitchFamily="34" charset="-120"/>
              </a:rPr>
              <a:t>✓   IS “STATE”</a:t>
            </a:r>
            <a:endParaRPr lang="en-US" sz="2200" dirty="0"/>
          </a:p>
        </p:txBody>
      </p:sp>
      <p:sp>
        <p:nvSpPr>
          <p:cNvPr id="14" name="Text 12"/>
          <p:cNvSpPr txBox="1"/>
          <p:nvPr/>
        </p:nvSpPr>
        <p:spPr>
          <a:xfrm>
            <a:off x="6553048" y="2322576"/>
            <a:ext cx="4797400" cy="530352"/>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when exercising ADMINISTRATIVE or</a:t>
            </a:r>
            <a:endParaRPr lang="en-US" sz="1350" dirty="0"/>
          </a:p>
          <a:p>
            <a:pPr indent="0" marL="0">
              <a:buNone/>
            </a:pPr>
            <a:r>
              <a:rPr lang="en-US" sz="1350" b="1" dirty="0">
                <a:solidFill>
                  <a:srgbClr val="1A1A1A"/>
                </a:solidFill>
                <a:latin typeface="Calibri" pitchFamily="34" charset="0"/>
                <a:ea typeface="Calibri" pitchFamily="34" charset="-122"/>
                <a:cs typeface="Calibri" pitchFamily="34" charset="-120"/>
              </a:rPr>
              <a:t>RULE-MAKING functions</a:t>
            </a:r>
            <a:endParaRPr lang="en-US" sz="1350" dirty="0"/>
          </a:p>
        </p:txBody>
      </p:sp>
      <p:sp>
        <p:nvSpPr>
          <p:cNvPr id="15" name="Text 13"/>
          <p:cNvSpPr txBox="1"/>
          <p:nvPr/>
        </p:nvSpPr>
        <p:spPr>
          <a:xfrm>
            <a:off x="6553048" y="2852928"/>
            <a:ext cx="4797400" cy="310896"/>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Appointments · service matters · rules under Arts. 145 &amp; 227</a:t>
            </a:r>
            <a:endParaRPr lang="en-US" sz="1200" dirty="0"/>
          </a:p>
        </p:txBody>
      </p:sp>
      <p:sp>
        <p:nvSpPr>
          <p:cNvPr id="16" name="Text 14"/>
          <p:cNvSpPr txBox="1"/>
          <p:nvPr/>
        </p:nvSpPr>
        <p:spPr>
          <a:xfrm>
            <a:off x="6553048" y="3255264"/>
            <a:ext cx="4797400" cy="56692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Here the court acts like any other authority — and is fully bound by Part III.</a:t>
            </a:r>
            <a:endParaRPr lang="en-US" sz="1250" dirty="0"/>
          </a:p>
        </p:txBody>
      </p:sp>
      <p:sp>
        <p:nvSpPr>
          <p:cNvPr id="17" name="Shape 15"/>
          <p:cNvSpPr/>
          <p:nvPr/>
        </p:nvSpPr>
        <p:spPr>
          <a:xfrm>
            <a:off x="6553048" y="3931920"/>
            <a:ext cx="4797400" cy="786384"/>
          </a:xfrm>
          <a:prstGeom prst="roundRect">
            <a:avLst>
              <a:gd name="adj" fmla="val 6977"/>
            </a:avLst>
          </a:prstGeom>
          <a:solidFill>
            <a:srgbClr val="FFFFFF"/>
          </a:solidFill>
          <a:ln w="9525">
            <a:solidFill>
              <a:srgbClr val="DFD9D9"/>
            </a:solidFill>
            <a:prstDash val="solid"/>
          </a:ln>
        </p:spPr>
      </p:sp>
      <p:sp>
        <p:nvSpPr>
          <p:cNvPr id="18" name="Text 16"/>
          <p:cNvSpPr txBox="1"/>
          <p:nvPr/>
        </p:nvSpPr>
        <p:spPr>
          <a:xfrm>
            <a:off x="6681064" y="4005072"/>
            <a:ext cx="4541368" cy="658368"/>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REMEMBER IT AS:</a:t>
            </a:r>
            <a:endParaRPr lang="en-US" sz="1300" dirty="0"/>
          </a:p>
          <a:p>
            <a:pPr indent="0" marL="0">
              <a:buNone/>
            </a:pPr>
            <a:r>
              <a:rPr lang="en-US" sz="1300" b="1" dirty="0">
                <a:solidFill>
                  <a:srgbClr val="1F3A5F"/>
                </a:solidFill>
                <a:latin typeface="Calibri" pitchFamily="34" charset="0"/>
                <a:ea typeface="Calibri" pitchFamily="34" charset="-122"/>
                <a:cs typeface="Calibri" pitchFamily="34" charset="-120"/>
              </a:rPr>
              <a:t>Judging → NOT State.    Managing → State.</a:t>
            </a:r>
            <a:endParaRPr lang="en-US" sz="1300" dirty="0"/>
          </a:p>
        </p:txBody>
      </p:sp>
      <p:sp>
        <p:nvSpPr>
          <p:cNvPr id="19" name="Text 17"/>
          <p:cNvSpPr txBox="1"/>
          <p:nvPr/>
        </p:nvSpPr>
        <p:spPr>
          <a:xfrm>
            <a:off x="566928" y="5175504"/>
            <a:ext cx="11057839" cy="384048"/>
          </a:xfrm>
          <a:prstGeom prst="rect">
            <a:avLst/>
          </a:prstGeom>
          <a:noFill/>
          <a:ln/>
        </p:spPr>
        <p:txBody>
          <a:bodyPr wrap="square" lIns="0" tIns="0" rIns="0" bIns="0" rtlCol="0" anchor="ctr"/>
          <a:lstStyle/>
          <a:p>
            <a:pPr indent="0" marL="0">
              <a:buNone/>
            </a:pPr>
            <a:r>
              <a:rPr lang="en-US" sz="1350" b="1" dirty="0">
                <a:solidFill>
                  <a:srgbClr val="B3261E"/>
                </a:solidFill>
                <a:latin typeface="Calibri" pitchFamily="34" charset="0"/>
                <a:ea typeface="Calibri" pitchFamily="34" charset="-122"/>
                <a:cs typeface="Calibri" pitchFamily="34" charset="-120"/>
              </a:rPr>
              <a:t>PRELIMS TRAP    ✗  “The judiciary is never ‘State’.”  →  FALSE — it is, in its administrative and rule-making capacity.</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14</a:t>
            </a:r>
            <a:endParaRPr lang="en-US" sz="1000" dirty="0"/>
          </a:p>
        </p:txBody>
      </p:sp>
      <p:sp>
        <p:nvSpPr>
          <p:cNvPr id="3" name="Text 1"/>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00" kern="0" dirty="0">
                <a:solidFill>
                  <a:srgbClr val="C9A227"/>
                </a:solidFill>
                <a:latin typeface="Calibri" pitchFamily="34" charset="0"/>
                <a:ea typeface="Calibri" pitchFamily="34" charset="-122"/>
                <a:cs typeface="Calibri" pitchFamily="34" charset="-120"/>
              </a:rPr>
              <a:t>RAPID REVISION</a:t>
            </a:r>
            <a:endParaRPr lang="en-US" sz="1050" dirty="0"/>
          </a:p>
        </p:txBody>
      </p:sp>
      <p:sp>
        <p:nvSpPr>
          <p:cNvPr id="4" name="Text 2"/>
          <p:cNvSpPr txBox="1"/>
          <p:nvPr/>
        </p:nvSpPr>
        <p:spPr>
          <a:xfrm>
            <a:off x="566928" y="603504"/>
            <a:ext cx="11057839" cy="603504"/>
          </a:xfrm>
          <a:prstGeom prst="rect">
            <a:avLst/>
          </a:prstGeom>
          <a:noFill/>
          <a:ln/>
        </p:spPr>
        <p:txBody>
          <a:bodyPr wrap="square" lIns="0" tIns="0" rIns="0" bIns="0" rtlCol="0" anchor="ctr"/>
          <a:lstStyle/>
          <a:p>
            <a:pPr indent="0" marL="0">
              <a:buNone/>
            </a:pPr>
            <a:r>
              <a:rPr lang="en-US" sz="2900" b="1" dirty="0">
                <a:solidFill>
                  <a:srgbClr val="7B1113"/>
                </a:solidFill>
                <a:latin typeface="Cambria" pitchFamily="34" charset="0"/>
                <a:ea typeface="Cambria" pitchFamily="34" charset="-122"/>
                <a:cs typeface="Cambria" pitchFamily="34" charset="-120"/>
              </a:rPr>
              <a:t>The Scorecard</a:t>
            </a:r>
            <a:endParaRPr lang="en-US" sz="2900" dirty="0"/>
          </a:p>
        </p:txBody>
      </p:sp>
      <p:sp>
        <p:nvSpPr>
          <p:cNvPr id="5" name="Text 3"/>
          <p:cNvSpPr txBox="1"/>
          <p:nvPr/>
        </p:nvSpPr>
        <p:spPr>
          <a:xfrm>
            <a:off x="566928" y="1188720"/>
            <a:ext cx="11057839" cy="292608"/>
          </a:xfrm>
          <a:prstGeom prst="rect">
            <a:avLst/>
          </a:prstGeom>
          <a:noFill/>
          <a:ln/>
        </p:spPr>
        <p:txBody>
          <a:bodyPr wrap="square" lIns="0" tIns="0" rIns="0" bIns="0"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State PSCs ask direct case-name to holding matching.</a:t>
            </a:r>
            <a:endParaRPr lang="en-US" sz="1300" dirty="0"/>
          </a:p>
        </p:txBody>
      </p:sp>
      <p:sp>
        <p:nvSpPr>
          <p:cNvPr id="6" name="Shape 4"/>
          <p:cNvSpPr/>
          <p:nvPr/>
        </p:nvSpPr>
        <p:spPr>
          <a:xfrm>
            <a:off x="566928" y="1737360"/>
            <a:ext cx="5346040" cy="4023360"/>
          </a:xfrm>
          <a:prstGeom prst="roundRect">
            <a:avLst>
              <a:gd name="adj" fmla="val 1818"/>
            </a:avLst>
          </a:prstGeom>
          <a:solidFill>
            <a:srgbClr val="EDF1F6"/>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7" name="Text 5"/>
          <p:cNvSpPr txBox="1"/>
          <p:nvPr/>
        </p:nvSpPr>
        <p:spPr>
          <a:xfrm>
            <a:off x="841248" y="1901952"/>
            <a:ext cx="4797400" cy="365760"/>
          </a:xfrm>
          <a:prstGeom prst="rect">
            <a:avLst/>
          </a:prstGeom>
          <a:noFill/>
          <a:ln/>
        </p:spPr>
        <p:txBody>
          <a:bodyPr wrap="square" lIns="0" tIns="0" rIns="0" bIns="0" rtlCol="0" anchor="ctr"/>
          <a:lstStyle/>
          <a:p>
            <a:pPr indent="0" marL="0">
              <a:buNone/>
            </a:pPr>
            <a:r>
              <a:rPr lang="en-US" sz="2000" b="1" dirty="0">
                <a:solidFill>
                  <a:srgbClr val="1B6B3A"/>
                </a:solidFill>
                <a:latin typeface="Cambria" pitchFamily="34" charset="0"/>
                <a:ea typeface="Cambria" pitchFamily="34" charset="-122"/>
                <a:cs typeface="Cambria" pitchFamily="34" charset="-120"/>
              </a:rPr>
              <a:t>✓   HELD TO BE “STATE”</a:t>
            </a:r>
            <a:endParaRPr lang="en-US" sz="2000" dirty="0"/>
          </a:p>
        </p:txBody>
      </p:sp>
      <p:sp>
        <p:nvSpPr>
          <p:cNvPr id="8" name="Text 6"/>
          <p:cNvSpPr txBox="1"/>
          <p:nvPr/>
        </p:nvSpPr>
        <p:spPr>
          <a:xfrm>
            <a:off x="841248" y="2359152"/>
            <a:ext cx="4797400" cy="320040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Rajasthan State Electricity Board  —  1967</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ONGC, LIC, IFCI  —  Sukhdev Singh, 1975</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International Airport Authority  —  R.D. Shetty, 1979</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Society running REC Srinagar  —  Ajay Hasia, 1981</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Bharat Petroleum (govt. company)  —  Som Prakash Rekhi, 1981</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Delhi Development Authority  —  R.C. Jain, 1981</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CSIR  —  Pradeep Kumar Biswas, 2002</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Municipalities, Panchayats, District Boards</a:t>
            </a:r>
            <a:endParaRPr lang="en-US" sz="1300" dirty="0"/>
          </a:p>
        </p:txBody>
      </p:sp>
      <p:sp>
        <p:nvSpPr>
          <p:cNvPr id="9" name="Shape 7"/>
          <p:cNvSpPr/>
          <p:nvPr/>
        </p:nvSpPr>
        <p:spPr>
          <a:xfrm>
            <a:off x="6278728" y="1737360"/>
            <a:ext cx="5346040" cy="4023360"/>
          </a:xfrm>
          <a:prstGeom prst="roundRect">
            <a:avLst>
              <a:gd name="adj" fmla="val 1818"/>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0" name="Text 8"/>
          <p:cNvSpPr txBox="1"/>
          <p:nvPr/>
        </p:nvSpPr>
        <p:spPr>
          <a:xfrm>
            <a:off x="6553048" y="1901952"/>
            <a:ext cx="4797400" cy="365760"/>
          </a:xfrm>
          <a:prstGeom prst="rect">
            <a:avLst/>
          </a:prstGeom>
          <a:noFill/>
          <a:ln/>
        </p:spPr>
        <p:txBody>
          <a:bodyPr wrap="square" lIns="0" tIns="0" rIns="0" bIns="0" rtlCol="0" anchor="ctr"/>
          <a:lstStyle/>
          <a:p>
            <a:pPr indent="0" marL="0">
              <a:buNone/>
            </a:pPr>
            <a:r>
              <a:rPr lang="en-US" sz="2000" b="1" dirty="0">
                <a:solidFill>
                  <a:srgbClr val="B3261E"/>
                </a:solidFill>
                <a:latin typeface="Cambria" pitchFamily="34" charset="0"/>
                <a:ea typeface="Cambria" pitchFamily="34" charset="-122"/>
                <a:cs typeface="Cambria" pitchFamily="34" charset="-120"/>
              </a:rPr>
              <a:t>✗   HELD NOT TO BE “STATE”</a:t>
            </a:r>
            <a:endParaRPr lang="en-US" sz="2000" dirty="0"/>
          </a:p>
        </p:txBody>
      </p:sp>
      <p:sp>
        <p:nvSpPr>
          <p:cNvPr id="11" name="Text 9"/>
          <p:cNvSpPr txBox="1"/>
          <p:nvPr/>
        </p:nvSpPr>
        <p:spPr>
          <a:xfrm>
            <a:off x="6553048" y="2359152"/>
            <a:ext cx="4797400" cy="21945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University of Madras  —  Santa Bai, 1954  (reasoning since rejected)</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CSIR  —  Sabhajit Tewary, 1975   ⚠  OVERRULED in 2002</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NCERT  —  Chander Mohan Khanna, 1991</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BCCI  —  Zee Telefilms, 2005</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The Judiciary, in its judicial functions</a:t>
            </a:r>
            <a:endParaRPr lang="en-US" sz="1300" dirty="0"/>
          </a:p>
        </p:txBody>
      </p:sp>
      <p:sp>
        <p:nvSpPr>
          <p:cNvPr id="12" name="Shape 10"/>
          <p:cNvSpPr/>
          <p:nvPr/>
        </p:nvSpPr>
        <p:spPr>
          <a:xfrm>
            <a:off x="6553048" y="4663440"/>
            <a:ext cx="4797400" cy="932688"/>
          </a:xfrm>
          <a:prstGeom prst="roundRect">
            <a:avLst>
              <a:gd name="adj" fmla="val 5882"/>
            </a:avLst>
          </a:prstGeom>
          <a:solidFill>
            <a:srgbClr val="FBF5E4"/>
          </a:solidFill>
          <a:ln w="9525">
            <a:solidFill>
              <a:srgbClr val="DFD9D9"/>
            </a:solidFill>
            <a:prstDash val="solid"/>
          </a:ln>
        </p:spPr>
      </p:sp>
      <p:sp>
        <p:nvSpPr>
          <p:cNvPr id="13" name="Text 11"/>
          <p:cNvSpPr txBox="1"/>
          <p:nvPr/>
        </p:nvSpPr>
        <p:spPr>
          <a:xfrm>
            <a:off x="6681064" y="4663440"/>
            <a:ext cx="4541368" cy="932688"/>
          </a:xfrm>
          <a:prstGeom prst="rect">
            <a:avLst/>
          </a:prstGeom>
          <a:noFill/>
          <a:ln/>
        </p:spPr>
        <p:txBody>
          <a:bodyPr wrap="square" lIns="0" tIns="0" rIns="0" bIns="0" rtlCol="0" anchor="ctr"/>
          <a:lstStyle/>
          <a:p>
            <a:pPr indent="0" marL="0">
              <a:buNone/>
            </a:pPr>
            <a:r>
              <a:rPr lang="en-US" sz="1250" b="1" dirty="0">
                <a:solidFill>
                  <a:srgbClr val="7B1113"/>
                </a:solidFill>
                <a:latin typeface="Calibri" pitchFamily="34" charset="0"/>
                <a:ea typeface="Calibri" pitchFamily="34" charset="-122"/>
                <a:cs typeface="Calibri" pitchFamily="34" charset="-120"/>
              </a:rPr>
              <a:t>FAVOURITE TRAP:  CSIR appears on BOTH lists. The 1975 answer is dead; since 2002 CSIR IS “State”.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15</a:t>
            </a:r>
            <a:endParaRPr lang="en-US" sz="1000" dirty="0"/>
          </a:p>
        </p:txBody>
      </p:sp>
      <p:sp>
        <p:nvSpPr>
          <p:cNvPr id="3" name="Text 1"/>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00" kern="0" dirty="0">
                <a:solidFill>
                  <a:srgbClr val="C9A227"/>
                </a:solidFill>
                <a:latin typeface="Calibri" pitchFamily="34" charset="0"/>
                <a:ea typeface="Calibri" pitchFamily="34" charset="-122"/>
                <a:cs typeface="Calibri" pitchFamily="34" charset="-120"/>
              </a:rPr>
              <a:t>APPLYING THE TEST</a:t>
            </a:r>
            <a:endParaRPr lang="en-US" sz="1050" dirty="0"/>
          </a:p>
        </p:txBody>
      </p:sp>
      <p:sp>
        <p:nvSpPr>
          <p:cNvPr id="4" name="Text 2"/>
          <p:cNvSpPr txBox="1"/>
          <p:nvPr/>
        </p:nvSpPr>
        <p:spPr>
          <a:xfrm>
            <a:off x="566928" y="603504"/>
            <a:ext cx="11057839" cy="603504"/>
          </a:xfrm>
          <a:prstGeom prst="rect">
            <a:avLst/>
          </a:prstGeom>
          <a:noFill/>
          <a:ln/>
        </p:spPr>
        <p:txBody>
          <a:bodyPr wrap="square" lIns="0" tIns="0" rIns="0" bIns="0" rtlCol="0" anchor="ctr"/>
          <a:lstStyle/>
          <a:p>
            <a:pPr indent="0" marL="0">
              <a:buNone/>
            </a:pPr>
            <a:r>
              <a:rPr lang="en-US" sz="2900" b="1" dirty="0">
                <a:solidFill>
                  <a:srgbClr val="7B1113"/>
                </a:solidFill>
                <a:latin typeface="Cambria" pitchFamily="34" charset="0"/>
                <a:ea typeface="Cambria" pitchFamily="34" charset="-122"/>
                <a:cs typeface="Cambria" pitchFamily="34" charset="-120"/>
              </a:rPr>
              <a:t>Two “No” Cases — and the Remedy That Survives</a:t>
            </a:r>
            <a:endParaRPr lang="en-US" sz="2900" dirty="0"/>
          </a:p>
        </p:txBody>
      </p:sp>
      <p:sp>
        <p:nvSpPr>
          <p:cNvPr id="5" name="Shape 3"/>
          <p:cNvSpPr/>
          <p:nvPr/>
        </p:nvSpPr>
        <p:spPr>
          <a:xfrm>
            <a:off x="566928" y="1645920"/>
            <a:ext cx="5346040" cy="2139696"/>
          </a:xfrm>
          <a:prstGeom prst="roundRect">
            <a:avLst>
              <a:gd name="adj" fmla="val 3419"/>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6" name="Text 4"/>
          <p:cNvSpPr txBox="1"/>
          <p:nvPr/>
        </p:nvSpPr>
        <p:spPr>
          <a:xfrm>
            <a:off x="822960" y="1810512"/>
            <a:ext cx="4833976" cy="329184"/>
          </a:xfrm>
          <a:prstGeom prst="rect">
            <a:avLst/>
          </a:prstGeom>
          <a:noFill/>
          <a:ln/>
        </p:spPr>
        <p:txBody>
          <a:bodyPr wrap="square" lIns="0" tIns="0" rIns="0" bIns="0" rtlCol="0" anchor="ctr"/>
          <a:lstStyle/>
          <a:p>
            <a:pPr indent="0" marL="0">
              <a:buNone/>
            </a:pPr>
            <a:r>
              <a:rPr lang="en-US" sz="1700" b="1" dirty="0">
                <a:solidFill>
                  <a:srgbClr val="7B1113"/>
                </a:solidFill>
                <a:latin typeface="Cambria" pitchFamily="34" charset="0"/>
                <a:ea typeface="Cambria" pitchFamily="34" charset="-122"/>
                <a:cs typeface="Cambria" pitchFamily="34" charset="-120"/>
              </a:rPr>
              <a:t>NCERT  ✗   Chander Mohan Khanna (1991)</a:t>
            </a:r>
            <a:endParaRPr lang="en-US" sz="1700" dirty="0"/>
          </a:p>
        </p:txBody>
      </p:sp>
      <p:sp>
        <p:nvSpPr>
          <p:cNvPr id="7" name="Text 5"/>
          <p:cNvSpPr txBox="1"/>
          <p:nvPr/>
        </p:nvSpPr>
        <p:spPr>
          <a:xfrm>
            <a:off x="822960" y="2176272"/>
            <a:ext cx="4833976" cy="84124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Gets government grants — but earns its own income, spends on its own objectives, and government control extends only to whether the grant is properly used. A donor checking receipts, not a boss.</a:t>
            </a:r>
            <a:endParaRPr lang="en-US" sz="1250" dirty="0"/>
          </a:p>
        </p:txBody>
      </p:sp>
      <p:sp>
        <p:nvSpPr>
          <p:cNvPr id="8" name="Text 6"/>
          <p:cNvSpPr txBox="1"/>
          <p:nvPr/>
        </p:nvSpPr>
        <p:spPr>
          <a:xfrm>
            <a:off x="822960" y="3054096"/>
            <a:ext cx="4833976" cy="566928"/>
          </a:xfrm>
          <a:prstGeom prst="rect">
            <a:avLst/>
          </a:prstGeom>
          <a:noFill/>
          <a:ln/>
        </p:spPr>
        <p:txBody>
          <a:bodyPr wrap="square" lIns="0" tIns="0" rIns="0" bIns="0" rtlCol="0" anchor="ctr"/>
          <a:lstStyle/>
          <a:p>
            <a:pPr indent="0" marL="0">
              <a:buNone/>
            </a:pPr>
            <a:r>
              <a:rPr lang="en-US" sz="1250" b="1" i="1" dirty="0">
                <a:solidFill>
                  <a:srgbClr val="1F3A5F"/>
                </a:solidFill>
                <a:latin typeface="Calibri" pitchFamily="34" charset="0"/>
                <a:ea typeface="Calibri" pitchFamily="34" charset="-122"/>
                <a:cs typeface="Calibri" pitchFamily="34" charset="-120"/>
              </a:rPr>
              <a:t>“A wide enlargement of the meaning must be tempered by a WISE LIMITATION.”</a:t>
            </a:r>
            <a:endParaRPr lang="en-US" sz="1250" dirty="0"/>
          </a:p>
        </p:txBody>
      </p:sp>
      <p:sp>
        <p:nvSpPr>
          <p:cNvPr id="9" name="Shape 7"/>
          <p:cNvSpPr/>
          <p:nvPr/>
        </p:nvSpPr>
        <p:spPr>
          <a:xfrm>
            <a:off x="6278728" y="1645920"/>
            <a:ext cx="5346040" cy="2139696"/>
          </a:xfrm>
          <a:prstGeom prst="roundRect">
            <a:avLst>
              <a:gd name="adj" fmla="val 3419"/>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0" name="Text 8"/>
          <p:cNvSpPr txBox="1"/>
          <p:nvPr/>
        </p:nvSpPr>
        <p:spPr>
          <a:xfrm>
            <a:off x="6534760" y="1810512"/>
            <a:ext cx="4833976" cy="329184"/>
          </a:xfrm>
          <a:prstGeom prst="rect">
            <a:avLst/>
          </a:prstGeom>
          <a:noFill/>
          <a:ln/>
        </p:spPr>
        <p:txBody>
          <a:bodyPr wrap="square" lIns="0" tIns="0" rIns="0" bIns="0" rtlCol="0" anchor="ctr"/>
          <a:lstStyle/>
          <a:p>
            <a:pPr indent="0" marL="0">
              <a:buNone/>
            </a:pPr>
            <a:r>
              <a:rPr lang="en-US" sz="1700" b="1" dirty="0">
                <a:solidFill>
                  <a:srgbClr val="7B1113"/>
                </a:solidFill>
                <a:latin typeface="Cambria" pitchFamily="34" charset="0"/>
                <a:ea typeface="Cambria" pitchFamily="34" charset="-122"/>
                <a:cs typeface="Cambria" pitchFamily="34" charset="-120"/>
              </a:rPr>
              <a:t>BCCI  ✗   Zee Telefilms (2005)</a:t>
            </a:r>
            <a:endParaRPr lang="en-US" sz="1700" dirty="0"/>
          </a:p>
        </p:txBody>
      </p:sp>
      <p:sp>
        <p:nvSpPr>
          <p:cNvPr id="11" name="Text 9"/>
          <p:cNvSpPr txBox="1"/>
          <p:nvPr/>
        </p:nvSpPr>
        <p:spPr>
          <a:xfrm>
            <a:off x="6534760" y="2176272"/>
            <a:ext cx="4833976" cy="896112"/>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No statute created it · government holds no share capital · no substantial financial assistance · no deep control. Its monopoly over cricket is DE FACTO — the State never conferred or protected it.</a:t>
            </a:r>
            <a:endParaRPr lang="en-US" sz="1250" dirty="0"/>
          </a:p>
        </p:txBody>
      </p:sp>
      <p:sp>
        <p:nvSpPr>
          <p:cNvPr id="12" name="Text 10"/>
          <p:cNvSpPr txBox="1"/>
          <p:nvPr/>
        </p:nvSpPr>
        <p:spPr>
          <a:xfrm>
            <a:off x="6534760" y="3127248"/>
            <a:ext cx="4833976" cy="45720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2015 — BCCI v. Cricket Assn. of Bihar → Justice Lodha Committee.</a:t>
            </a:r>
            <a:endParaRPr lang="en-US" sz="1200" dirty="0"/>
          </a:p>
        </p:txBody>
      </p:sp>
      <p:sp>
        <p:nvSpPr>
          <p:cNvPr id="13" name="Shape 11"/>
          <p:cNvSpPr/>
          <p:nvPr/>
        </p:nvSpPr>
        <p:spPr>
          <a:xfrm>
            <a:off x="566928" y="3950208"/>
            <a:ext cx="11057839" cy="1828800"/>
          </a:xfrm>
          <a:prstGeom prst="roundRect">
            <a:avLst>
              <a:gd name="adj" fmla="val 4000"/>
            </a:avLst>
          </a:prstGeom>
          <a:solidFill>
            <a:srgbClr val="EDF1F6"/>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4" name="Text 12"/>
          <p:cNvSpPr txBox="1"/>
          <p:nvPr/>
        </p:nvSpPr>
        <p:spPr>
          <a:xfrm>
            <a:off x="859536" y="4114800"/>
            <a:ext cx="10472623" cy="274320"/>
          </a:xfrm>
          <a:prstGeom prst="rect">
            <a:avLst/>
          </a:prstGeom>
          <a:noFill/>
          <a:ln/>
        </p:spPr>
        <p:txBody>
          <a:bodyPr wrap="square" lIns="0" tIns="0" rIns="0" bIns="0" rtlCol="0" anchor="ctr"/>
          <a:lstStyle/>
          <a:p>
            <a:pPr indent="0" marL="0">
              <a:buNone/>
            </a:pPr>
            <a:r>
              <a:rPr lang="en-US" sz="1100" b="1" spc="150" kern="0" dirty="0">
                <a:solidFill>
                  <a:srgbClr val="7B1113"/>
                </a:solidFill>
                <a:latin typeface="Calibri" pitchFamily="34" charset="0"/>
                <a:ea typeface="Calibri" pitchFamily="34" charset="-122"/>
                <a:cs typeface="Calibri" pitchFamily="34" charset="-120"/>
              </a:rPr>
              <a:t>THE HALF THAT COACHING NOTES CUT OFF</a:t>
            </a:r>
            <a:endParaRPr lang="en-US" sz="1100" dirty="0"/>
          </a:p>
        </p:txBody>
      </p:sp>
      <p:sp>
        <p:nvSpPr>
          <p:cNvPr id="15" name="Text 13"/>
          <p:cNvSpPr txBox="1"/>
          <p:nvPr/>
        </p:nvSpPr>
        <p:spPr>
          <a:xfrm>
            <a:off x="859536" y="4407408"/>
            <a:ext cx="10472623" cy="548640"/>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BCCI is not “State” — but it performs a PUBLIC FUNCTION (selecting the national team). So a writ still lies against it in the High Court.</a:t>
            </a:r>
            <a:endParaRPr lang="en-US" sz="1350" dirty="0"/>
          </a:p>
        </p:txBody>
      </p:sp>
      <p:sp>
        <p:nvSpPr>
          <p:cNvPr id="16" name="Text 14"/>
          <p:cNvSpPr txBox="1"/>
          <p:nvPr/>
        </p:nvSpPr>
        <p:spPr>
          <a:xfrm>
            <a:off x="859536" y="4992624"/>
            <a:ext cx="5120640" cy="310896"/>
          </a:xfrm>
          <a:prstGeom prst="rect">
            <a:avLst/>
          </a:prstGeom>
          <a:noFill/>
          <a:ln/>
        </p:spPr>
        <p:txBody>
          <a:bodyPr wrap="square" lIns="0" tIns="0" rIns="0" bIns="0"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ARTICLE 32   →   only against “State”</a:t>
            </a:r>
            <a:endParaRPr lang="en-US" sz="1400" dirty="0"/>
          </a:p>
        </p:txBody>
      </p:sp>
      <p:sp>
        <p:nvSpPr>
          <p:cNvPr id="17" name="Text 15"/>
          <p:cNvSpPr txBox="1"/>
          <p:nvPr/>
        </p:nvSpPr>
        <p:spPr>
          <a:xfrm>
            <a:off x="859536" y="5303520"/>
            <a:ext cx="7863840" cy="310896"/>
          </a:xfrm>
          <a:prstGeom prst="rect">
            <a:avLst/>
          </a:prstGeom>
          <a:noFill/>
          <a:ln/>
        </p:spPr>
        <p:txBody>
          <a:bodyPr wrap="square" lIns="0" tIns="0" rIns="0" bIns="0" rtlCol="0" anchor="ctr"/>
          <a:lstStyle/>
          <a:p>
            <a:pPr indent="0" marL="0">
              <a:buNone/>
            </a:pPr>
            <a:r>
              <a:rPr lang="en-US" sz="1400" b="1" dirty="0">
                <a:solidFill>
                  <a:srgbClr val="1B6B3A"/>
                </a:solidFill>
                <a:latin typeface="Calibri" pitchFamily="34" charset="0"/>
                <a:ea typeface="Calibri" pitchFamily="34" charset="-122"/>
                <a:cs typeface="Calibri" pitchFamily="34" charset="-120"/>
              </a:rPr>
              <a:t>ARTICLE 226   →   also against a PRIVATE body performing a PUBLIC DUTY</a:t>
            </a:r>
            <a:endParaRPr lang="en-US" sz="1400" dirty="0"/>
          </a:p>
        </p:txBody>
      </p:sp>
      <p:sp>
        <p:nvSpPr>
          <p:cNvPr id="18" name="Shape 16"/>
          <p:cNvSpPr/>
          <p:nvPr/>
        </p:nvSpPr>
        <p:spPr>
          <a:xfrm>
            <a:off x="8778240" y="4901184"/>
            <a:ext cx="2834640" cy="786384"/>
          </a:xfrm>
          <a:prstGeom prst="roundRect">
            <a:avLst>
              <a:gd name="adj" fmla="val 6977"/>
            </a:avLst>
          </a:prstGeom>
          <a:solidFill>
            <a:srgbClr val="7B1113"/>
          </a:solidFill>
          <a:ln w="12700">
            <a:solidFill>
              <a:srgbClr val="333333"/>
            </a:solidFill>
            <a:prstDash val="solid"/>
          </a:ln>
        </p:spPr>
      </p:sp>
      <p:sp>
        <p:nvSpPr>
          <p:cNvPr id="19" name="Text 17"/>
          <p:cNvSpPr txBox="1"/>
          <p:nvPr/>
        </p:nvSpPr>
        <p:spPr>
          <a:xfrm>
            <a:off x="8778240" y="4901184"/>
            <a:ext cx="2834640" cy="786384"/>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  Art. 226 is</a:t>
            </a:r>
            <a:endParaRPr lang="en-US" sz="1350" dirty="0"/>
          </a:p>
          <a:p>
            <a:pPr algn="ctr" indent="0" marL="0">
              <a:buNone/>
            </a:pPr>
            <a:r>
              <a:rPr lang="en-US" sz="1350" b="1" dirty="0">
                <a:solidFill>
                  <a:srgbClr val="FFFFFF"/>
                </a:solidFill>
                <a:latin typeface="Calibri" pitchFamily="34" charset="0"/>
                <a:ea typeface="Calibri" pitchFamily="34" charset="-122"/>
                <a:cs typeface="Calibri" pitchFamily="34" charset="-120"/>
              </a:rPr>
              <a:t>WIDER than Art. 32</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00" kern="0" dirty="0">
                <a:solidFill>
                  <a:srgbClr val="C9A227"/>
                </a:solidFill>
                <a:latin typeface="Calibri" pitchFamily="34" charset="0"/>
                <a:ea typeface="Calibri" pitchFamily="34" charset="-122"/>
                <a:cs typeface="Calibri" pitchFamily="34" charset="-120"/>
              </a:rPr>
              <a:t>LATEST DEVELOPMENT  ·  2023</a:t>
            </a:r>
            <a:endParaRPr lang="en-US" sz="1050" dirty="0"/>
          </a:p>
        </p:txBody>
      </p:sp>
      <p:sp>
        <p:nvSpPr>
          <p:cNvPr id="4" name="Text 2"/>
          <p:cNvSpPr txBox="1"/>
          <p:nvPr/>
        </p:nvSpPr>
        <p:spPr>
          <a:xfrm>
            <a:off x="566928" y="603504"/>
            <a:ext cx="11057839" cy="603504"/>
          </a:xfrm>
          <a:prstGeom prst="rect">
            <a:avLst/>
          </a:prstGeom>
          <a:noFill/>
          <a:ln/>
        </p:spPr>
        <p:txBody>
          <a:bodyPr wrap="square" lIns="0" tIns="0" rIns="0" bIns="0" rtlCol="0" anchor="ctr"/>
          <a:lstStyle/>
          <a:p>
            <a:pPr indent="0" marL="0">
              <a:buNone/>
            </a:pPr>
            <a:r>
              <a:rPr lang="en-US" sz="2900" b="1" dirty="0">
                <a:solidFill>
                  <a:srgbClr val="7B1113"/>
                </a:solidFill>
                <a:latin typeface="Cambria" pitchFamily="34" charset="0"/>
                <a:ea typeface="Cambria" pitchFamily="34" charset="-122"/>
                <a:cs typeface="Cambria" pitchFamily="34" charset="-120"/>
              </a:rPr>
              <a:t>Kaushal Kishor — Rights Go Horizontal</a:t>
            </a:r>
            <a:endParaRPr lang="en-US" sz="2900" dirty="0"/>
          </a:p>
        </p:txBody>
      </p:sp>
      <p:sp>
        <p:nvSpPr>
          <p:cNvPr id="5" name="Text 3"/>
          <p:cNvSpPr txBox="1"/>
          <p:nvPr/>
        </p:nvSpPr>
        <p:spPr>
          <a:xfrm>
            <a:off x="566928" y="1188720"/>
            <a:ext cx="11057839" cy="292608"/>
          </a:xfrm>
          <a:prstGeom prst="rect">
            <a:avLst/>
          </a:prstGeom>
          <a:noFill/>
          <a:ln/>
        </p:spPr>
        <p:txBody>
          <a:bodyPr wrap="square" lIns="0" tIns="0" rIns="0" bIns="0"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Kaushal Kishor v. State of U.P. (2023) — the strongest value-addition on this topic.</a:t>
            </a:r>
            <a:endParaRPr lang="en-US" sz="1300" dirty="0"/>
          </a:p>
        </p:txBody>
      </p:sp>
      <p:sp>
        <p:nvSpPr>
          <p:cNvPr id="6" name="Shape 4"/>
          <p:cNvSpPr/>
          <p:nvPr/>
        </p:nvSpPr>
        <p:spPr>
          <a:xfrm>
            <a:off x="566928" y="1810512"/>
            <a:ext cx="11057839" cy="1371600"/>
          </a:xfrm>
          <a:prstGeom prst="roundRect">
            <a:avLst>
              <a:gd name="adj" fmla="val 5333"/>
            </a:avLst>
          </a:prstGeom>
          <a:solidFill>
            <a:srgbClr val="FBF5E4"/>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7" name="Text 5"/>
          <p:cNvSpPr txBox="1"/>
          <p:nvPr/>
        </p:nvSpPr>
        <p:spPr>
          <a:xfrm>
            <a:off x="859536" y="1975104"/>
            <a:ext cx="10472623" cy="274320"/>
          </a:xfrm>
          <a:prstGeom prst="rect">
            <a:avLst/>
          </a:prstGeom>
          <a:noFill/>
          <a:ln/>
        </p:spPr>
        <p:txBody>
          <a:bodyPr wrap="square" lIns="0" tIns="0" rIns="0" bIns="0" rtlCol="0" anchor="ctr"/>
          <a:lstStyle/>
          <a:p>
            <a:pPr indent="0" marL="0">
              <a:buNone/>
            </a:pPr>
            <a:r>
              <a:rPr lang="en-US" sz="1200" b="1" spc="100" kern="0" dirty="0">
                <a:solidFill>
                  <a:srgbClr val="6B6B6B"/>
                </a:solidFill>
                <a:latin typeface="Calibri" pitchFamily="34" charset="0"/>
                <a:ea typeface="Calibri" pitchFamily="34" charset="-122"/>
                <a:cs typeface="Calibri" pitchFamily="34" charset="-120"/>
              </a:rPr>
              <a:t>5-judge Constitution Bench  ·  4 : 1  ·  3 January 2023</a:t>
            </a:r>
            <a:endParaRPr lang="en-US" sz="1200" dirty="0"/>
          </a:p>
        </p:txBody>
      </p:sp>
      <p:sp>
        <p:nvSpPr>
          <p:cNvPr id="8" name="Text 6"/>
          <p:cNvSpPr txBox="1"/>
          <p:nvPr/>
        </p:nvSpPr>
        <p:spPr>
          <a:xfrm>
            <a:off x="859536" y="2267712"/>
            <a:ext cx="10472623" cy="786384"/>
          </a:xfrm>
          <a:prstGeom prst="rect">
            <a:avLst/>
          </a:prstGeom>
          <a:noFill/>
          <a:ln/>
        </p:spPr>
        <p:txBody>
          <a:bodyPr wrap="square" lIns="0" tIns="0" rIns="0" bIns="0" rtlCol="0" anchor="ctr"/>
          <a:lstStyle/>
          <a:p>
            <a:pPr indent="0" marL="0">
              <a:buNone/>
            </a:pPr>
            <a:r>
              <a:rPr lang="en-US" sz="2000" b="1" dirty="0">
                <a:solidFill>
                  <a:srgbClr val="7B1113"/>
                </a:solidFill>
                <a:latin typeface="Cambria" pitchFamily="34" charset="0"/>
                <a:ea typeface="Cambria" pitchFamily="34" charset="-122"/>
                <a:cs typeface="Cambria" pitchFamily="34" charset="-120"/>
              </a:rPr>
              <a:t>Fundamental Rights under ARTICLES 19 and 21 can be enforced even against PRIVATE / NON-STATE ACTORS.</a:t>
            </a:r>
            <a:endParaRPr lang="en-US" sz="2000" dirty="0"/>
          </a:p>
        </p:txBody>
      </p:sp>
      <p:sp>
        <p:nvSpPr>
          <p:cNvPr id="9" name="Shape 7"/>
          <p:cNvSpPr/>
          <p:nvPr/>
        </p:nvSpPr>
        <p:spPr>
          <a:xfrm>
            <a:off x="566928" y="3346704"/>
            <a:ext cx="5346040" cy="1371600"/>
          </a:xfrm>
          <a:prstGeom prst="roundRect">
            <a:avLst>
              <a:gd name="adj" fmla="val 5333"/>
            </a:avLst>
          </a:prstGeom>
          <a:solidFill>
            <a:srgbClr val="EDF1F6"/>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0" name="Text 8"/>
          <p:cNvSpPr txBox="1"/>
          <p:nvPr/>
        </p:nvSpPr>
        <p:spPr>
          <a:xfrm>
            <a:off x="822960" y="3511296"/>
            <a:ext cx="4833976" cy="256032"/>
          </a:xfrm>
          <a:prstGeom prst="rect">
            <a:avLst/>
          </a:prstGeom>
          <a:noFill/>
          <a:ln/>
        </p:spPr>
        <p:txBody>
          <a:bodyPr wrap="square" lIns="0" tIns="0" rIns="0" bIns="0" rtlCol="0" anchor="ctr"/>
          <a:lstStyle/>
          <a:p>
            <a:pPr indent="0" marL="0">
              <a:buNone/>
            </a:pPr>
            <a:r>
              <a:rPr lang="en-US" sz="1100" b="1" spc="150" kern="0" dirty="0">
                <a:solidFill>
                  <a:srgbClr val="1F3A5F"/>
                </a:solidFill>
                <a:latin typeface="Calibri" pitchFamily="34" charset="0"/>
                <a:ea typeface="Calibri" pitchFamily="34" charset="-122"/>
                <a:cs typeface="Calibri" pitchFamily="34" charset="-120"/>
              </a:rPr>
              <a:t>ALSO HELD</a:t>
            </a:r>
            <a:endParaRPr lang="en-US" sz="1100" dirty="0"/>
          </a:p>
        </p:txBody>
      </p:sp>
      <p:sp>
        <p:nvSpPr>
          <p:cNvPr id="11" name="Text 9"/>
          <p:cNvSpPr txBox="1"/>
          <p:nvPr/>
        </p:nvSpPr>
        <p:spPr>
          <a:xfrm>
            <a:off x="822960" y="3785616"/>
            <a:ext cx="4833976" cy="786384"/>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The grounds of restriction listed in Article 19(2) are EXHAUSTIVE — no further grounds can be read in.</a:t>
            </a:r>
            <a:endParaRPr lang="en-US" sz="1300" dirty="0"/>
          </a:p>
        </p:txBody>
      </p:sp>
      <p:sp>
        <p:nvSpPr>
          <p:cNvPr id="12" name="Shape 10"/>
          <p:cNvSpPr/>
          <p:nvPr/>
        </p:nvSpPr>
        <p:spPr>
          <a:xfrm>
            <a:off x="6278728" y="3346704"/>
            <a:ext cx="5346040" cy="1371600"/>
          </a:xfrm>
          <a:prstGeom prst="roundRect">
            <a:avLst>
              <a:gd name="adj" fmla="val 5333"/>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3" name="Text 11"/>
          <p:cNvSpPr txBox="1"/>
          <p:nvPr/>
        </p:nvSpPr>
        <p:spPr>
          <a:xfrm>
            <a:off x="6534760" y="3511296"/>
            <a:ext cx="4833976" cy="256032"/>
          </a:xfrm>
          <a:prstGeom prst="rect">
            <a:avLst/>
          </a:prstGeom>
          <a:noFill/>
          <a:ln/>
        </p:spPr>
        <p:txBody>
          <a:bodyPr wrap="square" lIns="0" tIns="0" rIns="0" bIns="0" rtlCol="0" anchor="ctr"/>
          <a:lstStyle/>
          <a:p>
            <a:pPr indent="0" marL="0">
              <a:buNone/>
            </a:pPr>
            <a:r>
              <a:rPr lang="en-US" sz="1100" b="1" spc="150" kern="0" dirty="0">
                <a:solidFill>
                  <a:srgbClr val="7B1113"/>
                </a:solidFill>
                <a:latin typeface="Calibri" pitchFamily="34" charset="0"/>
                <a:ea typeface="Calibri" pitchFamily="34" charset="-122"/>
                <a:cs typeface="Calibri" pitchFamily="34" charset="-120"/>
              </a:rPr>
              <a:t>WHY IT MATTERS HERE</a:t>
            </a:r>
            <a:endParaRPr lang="en-US" sz="1100" dirty="0"/>
          </a:p>
        </p:txBody>
      </p:sp>
      <p:sp>
        <p:nvSpPr>
          <p:cNvPr id="14" name="Text 12"/>
          <p:cNvSpPr txBox="1"/>
          <p:nvPr/>
        </p:nvSpPr>
        <p:spPr>
          <a:xfrm>
            <a:off x="6534760" y="3785616"/>
            <a:ext cx="4833976" cy="82296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It DILUTES Article 12’s gatekeeping role. The old binary — State means rights apply, private means they do not — is breaking down.</a:t>
            </a:r>
            <a:endParaRPr lang="en-US" sz="1300" dirty="0"/>
          </a:p>
        </p:txBody>
      </p:sp>
      <p:sp>
        <p:nvSpPr>
          <p:cNvPr id="15" name="Text 13"/>
          <p:cNvSpPr txBox="1"/>
          <p:nvPr/>
        </p:nvSpPr>
        <p:spPr>
          <a:xfrm>
            <a:off x="566928" y="4901184"/>
            <a:ext cx="11057839" cy="274320"/>
          </a:xfrm>
          <a:prstGeom prst="rect">
            <a:avLst/>
          </a:prstGeom>
          <a:noFill/>
          <a:ln/>
        </p:spPr>
        <p:txBody>
          <a:bodyPr wrap="square" lIns="0" tIns="0" rIns="0" bIns="0" rtlCol="0" anchor="ctr"/>
          <a:lstStyle/>
          <a:p>
            <a:pPr indent="0" marL="0">
              <a:buNone/>
            </a:pPr>
            <a:r>
              <a:rPr lang="en-US" sz="1100" b="1" spc="150" kern="0" dirty="0">
                <a:solidFill>
                  <a:srgbClr val="6B6B6B"/>
                </a:solidFill>
                <a:latin typeface="Calibri" pitchFamily="34" charset="0"/>
                <a:ea typeface="Calibri" pitchFamily="34" charset="-122"/>
                <a:cs typeface="Calibri" pitchFamily="34" charset="-120"/>
              </a:rPr>
              <a:t>FUNDAMENTAL RIGHTS ALREADY AVAILABLE AGAINST PRIVATE PERSONS</a:t>
            </a:r>
            <a:endParaRPr lang="en-US" sz="1100" dirty="0"/>
          </a:p>
        </p:txBody>
      </p:sp>
      <p:sp>
        <p:nvSpPr>
          <p:cNvPr id="16" name="Shape 14"/>
          <p:cNvSpPr/>
          <p:nvPr/>
        </p:nvSpPr>
        <p:spPr>
          <a:xfrm>
            <a:off x="566928" y="5193792"/>
            <a:ext cx="2599868" cy="786384"/>
          </a:xfrm>
          <a:prstGeom prst="roundRect">
            <a:avLst>
              <a:gd name="adj" fmla="val 9302"/>
            </a:avLst>
          </a:prstGeom>
          <a:solidFill>
            <a:srgbClr val="EDF1F6"/>
          </a:solidFill>
          <a:ln w="9525">
            <a:solidFill>
              <a:srgbClr val="DFD9D9"/>
            </a:solidFill>
            <a:prstDash val="solid"/>
          </a:ln>
        </p:spPr>
      </p:sp>
      <p:sp>
        <p:nvSpPr>
          <p:cNvPr id="17" name="Text 15"/>
          <p:cNvSpPr txBox="1"/>
          <p:nvPr/>
        </p:nvSpPr>
        <p:spPr>
          <a:xfrm>
            <a:off x="676656" y="5285232"/>
            <a:ext cx="2380412" cy="256032"/>
          </a:xfrm>
          <a:prstGeom prst="rect">
            <a:avLst/>
          </a:prstGeom>
          <a:noFill/>
          <a:ln/>
        </p:spPr>
        <p:txBody>
          <a:bodyPr wrap="square" lIns="0" tIns="0" rIns="0" bIns="0" rtlCol="0" anchor="ctr"/>
          <a:lstStyle/>
          <a:p>
            <a:pPr algn="ctr" indent="0" marL="0">
              <a:buNone/>
            </a:pPr>
            <a:r>
              <a:rPr lang="en-US" sz="1350" b="1" dirty="0">
                <a:solidFill>
                  <a:srgbClr val="1F3A5F"/>
                </a:solidFill>
                <a:latin typeface="Calibri" pitchFamily="34" charset="0"/>
                <a:ea typeface="Calibri" pitchFamily="34" charset="-122"/>
                <a:cs typeface="Calibri" pitchFamily="34" charset="-120"/>
              </a:rPr>
              <a:t>Art. 15(2)</a:t>
            </a:r>
            <a:endParaRPr lang="en-US" sz="1350" dirty="0"/>
          </a:p>
        </p:txBody>
      </p:sp>
      <p:sp>
        <p:nvSpPr>
          <p:cNvPr id="18" name="Text 16"/>
          <p:cNvSpPr txBox="1"/>
          <p:nvPr/>
        </p:nvSpPr>
        <p:spPr>
          <a:xfrm>
            <a:off x="676656" y="5541264"/>
            <a:ext cx="2380412" cy="384048"/>
          </a:xfrm>
          <a:prstGeom prst="rect">
            <a:avLst/>
          </a:prstGeom>
          <a:noFill/>
          <a:ln/>
        </p:spPr>
        <p:txBody>
          <a:bodyPr wrap="square" lIns="0" tIns="0" rIns="0" bIns="0"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Access to shops, hotels, wells, roads</a:t>
            </a:r>
            <a:endParaRPr lang="en-US" sz="1050" dirty="0"/>
          </a:p>
        </p:txBody>
      </p:sp>
      <p:sp>
        <p:nvSpPr>
          <p:cNvPr id="19" name="Shape 17"/>
          <p:cNvSpPr/>
          <p:nvPr/>
        </p:nvSpPr>
        <p:spPr>
          <a:xfrm>
            <a:off x="3386252" y="5193792"/>
            <a:ext cx="2599868" cy="786384"/>
          </a:xfrm>
          <a:prstGeom prst="roundRect">
            <a:avLst>
              <a:gd name="adj" fmla="val 9302"/>
            </a:avLst>
          </a:prstGeom>
          <a:solidFill>
            <a:srgbClr val="EDF1F6"/>
          </a:solidFill>
          <a:ln w="9525">
            <a:solidFill>
              <a:srgbClr val="DFD9D9"/>
            </a:solidFill>
            <a:prstDash val="solid"/>
          </a:ln>
        </p:spPr>
      </p:sp>
      <p:sp>
        <p:nvSpPr>
          <p:cNvPr id="20" name="Text 18"/>
          <p:cNvSpPr txBox="1"/>
          <p:nvPr/>
        </p:nvSpPr>
        <p:spPr>
          <a:xfrm>
            <a:off x="3495980" y="5285232"/>
            <a:ext cx="2380412" cy="256032"/>
          </a:xfrm>
          <a:prstGeom prst="rect">
            <a:avLst/>
          </a:prstGeom>
          <a:noFill/>
          <a:ln/>
        </p:spPr>
        <p:txBody>
          <a:bodyPr wrap="square" lIns="0" tIns="0" rIns="0" bIns="0" rtlCol="0" anchor="ctr"/>
          <a:lstStyle/>
          <a:p>
            <a:pPr algn="ctr" indent="0" marL="0">
              <a:buNone/>
            </a:pPr>
            <a:r>
              <a:rPr lang="en-US" sz="1350" b="1" dirty="0">
                <a:solidFill>
                  <a:srgbClr val="1F3A5F"/>
                </a:solidFill>
                <a:latin typeface="Calibri" pitchFamily="34" charset="0"/>
                <a:ea typeface="Calibri" pitchFamily="34" charset="-122"/>
                <a:cs typeface="Calibri" pitchFamily="34" charset="-120"/>
              </a:rPr>
              <a:t>Art. 17</a:t>
            </a:r>
            <a:endParaRPr lang="en-US" sz="1350" dirty="0"/>
          </a:p>
        </p:txBody>
      </p:sp>
      <p:sp>
        <p:nvSpPr>
          <p:cNvPr id="21" name="Text 19"/>
          <p:cNvSpPr txBox="1"/>
          <p:nvPr/>
        </p:nvSpPr>
        <p:spPr>
          <a:xfrm>
            <a:off x="3495980" y="5541264"/>
            <a:ext cx="2380412" cy="384048"/>
          </a:xfrm>
          <a:prstGeom prst="rect">
            <a:avLst/>
          </a:prstGeom>
          <a:noFill/>
          <a:ln/>
        </p:spPr>
        <p:txBody>
          <a:bodyPr wrap="square" lIns="0" tIns="0" rIns="0" bIns="0"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Abolition of untouchability</a:t>
            </a:r>
            <a:endParaRPr lang="en-US" sz="1050" dirty="0"/>
          </a:p>
        </p:txBody>
      </p:sp>
      <p:sp>
        <p:nvSpPr>
          <p:cNvPr id="22" name="Shape 20"/>
          <p:cNvSpPr/>
          <p:nvPr/>
        </p:nvSpPr>
        <p:spPr>
          <a:xfrm>
            <a:off x="6205576" y="5193792"/>
            <a:ext cx="2599868" cy="786384"/>
          </a:xfrm>
          <a:prstGeom prst="roundRect">
            <a:avLst>
              <a:gd name="adj" fmla="val 9302"/>
            </a:avLst>
          </a:prstGeom>
          <a:solidFill>
            <a:srgbClr val="EDF1F6"/>
          </a:solidFill>
          <a:ln w="9525">
            <a:solidFill>
              <a:srgbClr val="DFD9D9"/>
            </a:solidFill>
            <a:prstDash val="solid"/>
          </a:ln>
        </p:spPr>
      </p:sp>
      <p:sp>
        <p:nvSpPr>
          <p:cNvPr id="23" name="Text 21"/>
          <p:cNvSpPr txBox="1"/>
          <p:nvPr/>
        </p:nvSpPr>
        <p:spPr>
          <a:xfrm>
            <a:off x="6315304" y="5285232"/>
            <a:ext cx="2380412" cy="256032"/>
          </a:xfrm>
          <a:prstGeom prst="rect">
            <a:avLst/>
          </a:prstGeom>
          <a:noFill/>
          <a:ln/>
        </p:spPr>
        <p:txBody>
          <a:bodyPr wrap="square" lIns="0" tIns="0" rIns="0" bIns="0" rtlCol="0" anchor="ctr"/>
          <a:lstStyle/>
          <a:p>
            <a:pPr algn="ctr" indent="0" marL="0">
              <a:buNone/>
            </a:pPr>
            <a:r>
              <a:rPr lang="en-US" sz="1350" b="1" dirty="0">
                <a:solidFill>
                  <a:srgbClr val="1F3A5F"/>
                </a:solidFill>
                <a:latin typeface="Calibri" pitchFamily="34" charset="0"/>
                <a:ea typeface="Calibri" pitchFamily="34" charset="-122"/>
                <a:cs typeface="Calibri" pitchFamily="34" charset="-120"/>
              </a:rPr>
              <a:t>Art. 23</a:t>
            </a:r>
            <a:endParaRPr lang="en-US" sz="1350" dirty="0"/>
          </a:p>
        </p:txBody>
      </p:sp>
      <p:sp>
        <p:nvSpPr>
          <p:cNvPr id="24" name="Text 22"/>
          <p:cNvSpPr txBox="1"/>
          <p:nvPr/>
        </p:nvSpPr>
        <p:spPr>
          <a:xfrm>
            <a:off x="6315304" y="5541264"/>
            <a:ext cx="2380412" cy="384048"/>
          </a:xfrm>
          <a:prstGeom prst="rect">
            <a:avLst/>
          </a:prstGeom>
          <a:noFill/>
          <a:ln/>
        </p:spPr>
        <p:txBody>
          <a:bodyPr wrap="square" lIns="0" tIns="0" rIns="0" bIns="0"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Trafficking, begar, forced labour</a:t>
            </a:r>
            <a:endParaRPr lang="en-US" sz="1050" dirty="0"/>
          </a:p>
        </p:txBody>
      </p:sp>
      <p:sp>
        <p:nvSpPr>
          <p:cNvPr id="25" name="Shape 23"/>
          <p:cNvSpPr/>
          <p:nvPr/>
        </p:nvSpPr>
        <p:spPr>
          <a:xfrm>
            <a:off x="9024899" y="5193792"/>
            <a:ext cx="2599868" cy="786384"/>
          </a:xfrm>
          <a:prstGeom prst="roundRect">
            <a:avLst>
              <a:gd name="adj" fmla="val 9302"/>
            </a:avLst>
          </a:prstGeom>
          <a:solidFill>
            <a:srgbClr val="EDF1F6"/>
          </a:solidFill>
          <a:ln w="9525">
            <a:solidFill>
              <a:srgbClr val="DFD9D9"/>
            </a:solidFill>
            <a:prstDash val="solid"/>
          </a:ln>
        </p:spPr>
      </p:sp>
      <p:sp>
        <p:nvSpPr>
          <p:cNvPr id="26" name="Text 24"/>
          <p:cNvSpPr txBox="1"/>
          <p:nvPr/>
        </p:nvSpPr>
        <p:spPr>
          <a:xfrm>
            <a:off x="9134627" y="5285232"/>
            <a:ext cx="2380412" cy="256032"/>
          </a:xfrm>
          <a:prstGeom prst="rect">
            <a:avLst/>
          </a:prstGeom>
          <a:noFill/>
          <a:ln/>
        </p:spPr>
        <p:txBody>
          <a:bodyPr wrap="square" lIns="0" tIns="0" rIns="0" bIns="0" rtlCol="0" anchor="ctr"/>
          <a:lstStyle/>
          <a:p>
            <a:pPr algn="ctr" indent="0" marL="0">
              <a:buNone/>
            </a:pPr>
            <a:r>
              <a:rPr lang="en-US" sz="1350" b="1" dirty="0">
                <a:solidFill>
                  <a:srgbClr val="1F3A5F"/>
                </a:solidFill>
                <a:latin typeface="Calibri" pitchFamily="34" charset="0"/>
                <a:ea typeface="Calibri" pitchFamily="34" charset="-122"/>
                <a:cs typeface="Calibri" pitchFamily="34" charset="-120"/>
              </a:rPr>
              <a:t>Art. 24</a:t>
            </a:r>
            <a:endParaRPr lang="en-US" sz="1350" dirty="0"/>
          </a:p>
        </p:txBody>
      </p:sp>
      <p:sp>
        <p:nvSpPr>
          <p:cNvPr id="27" name="Text 25"/>
          <p:cNvSpPr txBox="1"/>
          <p:nvPr/>
        </p:nvSpPr>
        <p:spPr>
          <a:xfrm>
            <a:off x="9134627" y="5541264"/>
            <a:ext cx="2380412" cy="384048"/>
          </a:xfrm>
          <a:prstGeom prst="rect">
            <a:avLst/>
          </a:prstGeom>
          <a:noFill/>
          <a:ln/>
        </p:spPr>
        <p:txBody>
          <a:bodyPr wrap="square" lIns="0" tIns="0" rIns="0" bIns="0"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No child under 14 in hazardous work</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17</a:t>
            </a:r>
            <a:endParaRPr lang="en-US" sz="1000" dirty="0"/>
          </a:p>
        </p:txBody>
      </p:sp>
      <p:sp>
        <p:nvSpPr>
          <p:cNvPr id="3" name="Text 1"/>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00" kern="0" dirty="0">
                <a:solidFill>
                  <a:srgbClr val="C9A227"/>
                </a:solidFill>
                <a:latin typeface="Calibri" pitchFamily="34" charset="0"/>
                <a:ea typeface="Calibri" pitchFamily="34" charset="-122"/>
                <a:cs typeface="Calibri" pitchFamily="34" charset="-120"/>
              </a:rPr>
              <a:t>REVISION</a:t>
            </a:r>
            <a:endParaRPr lang="en-US" sz="1050" dirty="0"/>
          </a:p>
        </p:txBody>
      </p:sp>
      <p:sp>
        <p:nvSpPr>
          <p:cNvPr id="4" name="Text 2"/>
          <p:cNvSpPr txBox="1"/>
          <p:nvPr/>
        </p:nvSpPr>
        <p:spPr>
          <a:xfrm>
            <a:off x="566928" y="603504"/>
            <a:ext cx="11057839" cy="603504"/>
          </a:xfrm>
          <a:prstGeom prst="rect">
            <a:avLst/>
          </a:prstGeom>
          <a:noFill/>
          <a:ln/>
        </p:spPr>
        <p:txBody>
          <a:bodyPr wrap="square" lIns="0" tIns="0" rIns="0" bIns="0" rtlCol="0" anchor="ctr"/>
          <a:lstStyle/>
          <a:p>
            <a:pPr indent="0" marL="0">
              <a:buNone/>
            </a:pPr>
            <a:r>
              <a:rPr lang="en-US" sz="2900" b="1" dirty="0">
                <a:solidFill>
                  <a:srgbClr val="7B1113"/>
                </a:solidFill>
                <a:latin typeface="Cambria" pitchFamily="34" charset="0"/>
                <a:ea typeface="Cambria" pitchFamily="34" charset="-122"/>
                <a:cs typeface="Cambria" pitchFamily="34" charset="-120"/>
              </a:rPr>
              <a:t>The Chronology at a Glance</a:t>
            </a:r>
            <a:endParaRPr lang="en-US" sz="2900" dirty="0"/>
          </a:p>
        </p:txBody>
      </p:sp>
      <p:sp>
        <p:nvSpPr>
          <p:cNvPr id="5" name="Shape 3"/>
          <p:cNvSpPr/>
          <p:nvPr/>
        </p:nvSpPr>
        <p:spPr>
          <a:xfrm>
            <a:off x="566928" y="1700784"/>
            <a:ext cx="5346040" cy="603504"/>
          </a:xfrm>
          <a:prstGeom prst="roundRect">
            <a:avLst>
              <a:gd name="adj" fmla="val 9091"/>
            </a:avLst>
          </a:prstGeom>
          <a:solidFill>
            <a:srgbClr val="EDF1F6"/>
          </a:solidFill>
          <a:ln w="9525">
            <a:solidFill>
              <a:srgbClr val="DFD9D9"/>
            </a:solidFill>
            <a:prstDash val="solid"/>
          </a:ln>
        </p:spPr>
      </p:sp>
      <p:sp>
        <p:nvSpPr>
          <p:cNvPr id="6" name="Text 4"/>
          <p:cNvSpPr txBox="1"/>
          <p:nvPr/>
        </p:nvSpPr>
        <p:spPr>
          <a:xfrm>
            <a:off x="713232" y="1700784"/>
            <a:ext cx="914400" cy="603504"/>
          </a:xfrm>
          <a:prstGeom prst="rect">
            <a:avLst/>
          </a:prstGeom>
          <a:noFill/>
          <a:ln/>
        </p:spPr>
        <p:txBody>
          <a:bodyPr wrap="square" lIns="0" tIns="0" rIns="0" bIns="0" rtlCol="0" anchor="ctr"/>
          <a:lstStyle/>
          <a:p>
            <a:pPr indent="0" marL="0">
              <a:buNone/>
            </a:pPr>
            <a:r>
              <a:rPr lang="en-US" sz="1900" b="1" dirty="0">
                <a:solidFill>
                  <a:srgbClr val="1F3A5F"/>
                </a:solidFill>
                <a:latin typeface="Cambria" pitchFamily="34" charset="0"/>
                <a:ea typeface="Cambria" pitchFamily="34" charset="-122"/>
                <a:cs typeface="Cambria" pitchFamily="34" charset="-120"/>
              </a:rPr>
              <a:t>1954</a:t>
            </a:r>
            <a:endParaRPr lang="en-US" sz="1900" dirty="0"/>
          </a:p>
        </p:txBody>
      </p:sp>
      <p:sp>
        <p:nvSpPr>
          <p:cNvPr id="7" name="Text 5"/>
          <p:cNvSpPr txBox="1"/>
          <p:nvPr/>
        </p:nvSpPr>
        <p:spPr>
          <a:xfrm>
            <a:off x="1682496" y="1700784"/>
            <a:ext cx="4065880" cy="60350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Santa Bai (HC) — ejusdem generis</a:t>
            </a:r>
            <a:endParaRPr lang="en-US" sz="1250" dirty="0"/>
          </a:p>
        </p:txBody>
      </p:sp>
      <p:sp>
        <p:nvSpPr>
          <p:cNvPr id="8" name="Shape 6"/>
          <p:cNvSpPr/>
          <p:nvPr/>
        </p:nvSpPr>
        <p:spPr>
          <a:xfrm>
            <a:off x="566928" y="2414016"/>
            <a:ext cx="5346040" cy="603504"/>
          </a:xfrm>
          <a:prstGeom prst="roundRect">
            <a:avLst>
              <a:gd name="adj" fmla="val 9091"/>
            </a:avLst>
          </a:prstGeom>
          <a:solidFill>
            <a:srgbClr val="EDF1F6"/>
          </a:solidFill>
          <a:ln w="9525">
            <a:solidFill>
              <a:srgbClr val="DFD9D9"/>
            </a:solidFill>
            <a:prstDash val="solid"/>
          </a:ln>
        </p:spPr>
      </p:sp>
      <p:sp>
        <p:nvSpPr>
          <p:cNvPr id="9" name="Text 7"/>
          <p:cNvSpPr txBox="1"/>
          <p:nvPr/>
        </p:nvSpPr>
        <p:spPr>
          <a:xfrm>
            <a:off x="713232" y="2414016"/>
            <a:ext cx="914400" cy="603504"/>
          </a:xfrm>
          <a:prstGeom prst="rect">
            <a:avLst/>
          </a:prstGeom>
          <a:noFill/>
          <a:ln/>
        </p:spPr>
        <p:txBody>
          <a:bodyPr wrap="square" lIns="0" tIns="0" rIns="0" bIns="0" rtlCol="0" anchor="ctr"/>
          <a:lstStyle/>
          <a:p>
            <a:pPr indent="0" marL="0">
              <a:buNone/>
            </a:pPr>
            <a:r>
              <a:rPr lang="en-US" sz="1900" b="1" dirty="0">
                <a:solidFill>
                  <a:srgbClr val="1F3A5F"/>
                </a:solidFill>
                <a:latin typeface="Cambria" pitchFamily="34" charset="0"/>
                <a:ea typeface="Cambria" pitchFamily="34" charset="-122"/>
                <a:cs typeface="Cambria" pitchFamily="34" charset="-120"/>
              </a:rPr>
              <a:t>1962</a:t>
            </a:r>
            <a:endParaRPr lang="en-US" sz="1900" dirty="0"/>
          </a:p>
        </p:txBody>
      </p:sp>
      <p:sp>
        <p:nvSpPr>
          <p:cNvPr id="10" name="Text 8"/>
          <p:cNvSpPr txBox="1"/>
          <p:nvPr/>
        </p:nvSpPr>
        <p:spPr>
          <a:xfrm>
            <a:off x="1682496" y="2414016"/>
            <a:ext cx="4065880" cy="60350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Ujjam Bai — rule rejected</a:t>
            </a:r>
            <a:endParaRPr lang="en-US" sz="1250" dirty="0"/>
          </a:p>
        </p:txBody>
      </p:sp>
      <p:sp>
        <p:nvSpPr>
          <p:cNvPr id="11" name="Shape 9"/>
          <p:cNvSpPr/>
          <p:nvPr/>
        </p:nvSpPr>
        <p:spPr>
          <a:xfrm>
            <a:off x="566928" y="3127248"/>
            <a:ext cx="5346040" cy="603504"/>
          </a:xfrm>
          <a:prstGeom prst="roundRect">
            <a:avLst>
              <a:gd name="adj" fmla="val 9091"/>
            </a:avLst>
          </a:prstGeom>
          <a:solidFill>
            <a:srgbClr val="EDF1F6"/>
          </a:solidFill>
          <a:ln w="9525">
            <a:solidFill>
              <a:srgbClr val="DFD9D9"/>
            </a:solidFill>
            <a:prstDash val="solid"/>
          </a:ln>
        </p:spPr>
      </p:sp>
      <p:sp>
        <p:nvSpPr>
          <p:cNvPr id="12" name="Text 10"/>
          <p:cNvSpPr txBox="1"/>
          <p:nvPr/>
        </p:nvSpPr>
        <p:spPr>
          <a:xfrm>
            <a:off x="713232" y="3127248"/>
            <a:ext cx="914400" cy="603504"/>
          </a:xfrm>
          <a:prstGeom prst="rect">
            <a:avLst/>
          </a:prstGeom>
          <a:noFill/>
          <a:ln/>
        </p:spPr>
        <p:txBody>
          <a:bodyPr wrap="square" lIns="0" tIns="0" rIns="0" bIns="0" rtlCol="0" anchor="ctr"/>
          <a:lstStyle/>
          <a:p>
            <a:pPr indent="0" marL="0">
              <a:buNone/>
            </a:pPr>
            <a:r>
              <a:rPr lang="en-US" sz="1900" b="1" dirty="0">
                <a:solidFill>
                  <a:srgbClr val="1F3A5F"/>
                </a:solidFill>
                <a:latin typeface="Cambria" pitchFamily="34" charset="0"/>
                <a:ea typeface="Cambria" pitchFamily="34" charset="-122"/>
                <a:cs typeface="Cambria" pitchFamily="34" charset="-120"/>
              </a:rPr>
              <a:t>1966</a:t>
            </a:r>
            <a:endParaRPr lang="en-US" sz="1900" dirty="0"/>
          </a:p>
        </p:txBody>
      </p:sp>
      <p:sp>
        <p:nvSpPr>
          <p:cNvPr id="13" name="Text 11"/>
          <p:cNvSpPr txBox="1"/>
          <p:nvPr/>
        </p:nvSpPr>
        <p:spPr>
          <a:xfrm>
            <a:off x="1682496" y="3127248"/>
            <a:ext cx="4065880" cy="60350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Mirajkar (9-J) — judicial orders</a:t>
            </a:r>
            <a:endParaRPr lang="en-US" sz="1250" dirty="0"/>
          </a:p>
        </p:txBody>
      </p:sp>
      <p:sp>
        <p:nvSpPr>
          <p:cNvPr id="14" name="Shape 12"/>
          <p:cNvSpPr/>
          <p:nvPr/>
        </p:nvSpPr>
        <p:spPr>
          <a:xfrm>
            <a:off x="566928" y="3840480"/>
            <a:ext cx="5346040" cy="603504"/>
          </a:xfrm>
          <a:prstGeom prst="roundRect">
            <a:avLst>
              <a:gd name="adj" fmla="val 9091"/>
            </a:avLst>
          </a:prstGeom>
          <a:solidFill>
            <a:srgbClr val="FBF5E4"/>
          </a:solidFill>
          <a:ln w="15875">
            <a:solidFill>
              <a:srgbClr val="C9A227"/>
            </a:solidFill>
            <a:prstDash val="solid"/>
          </a:ln>
        </p:spPr>
      </p:sp>
      <p:sp>
        <p:nvSpPr>
          <p:cNvPr id="15" name="Text 13"/>
          <p:cNvSpPr txBox="1"/>
          <p:nvPr/>
        </p:nvSpPr>
        <p:spPr>
          <a:xfrm>
            <a:off x="713232" y="3840480"/>
            <a:ext cx="914400" cy="603504"/>
          </a:xfrm>
          <a:prstGeom prst="rect">
            <a:avLst/>
          </a:prstGeom>
          <a:noFill/>
          <a:ln/>
        </p:spPr>
        <p:txBody>
          <a:bodyPr wrap="square" lIns="0" tIns="0" rIns="0" bIns="0" rtlCol="0" anchor="ctr"/>
          <a:lstStyle/>
          <a:p>
            <a:pPr indent="0" marL="0">
              <a:buNone/>
            </a:pPr>
            <a:r>
              <a:rPr lang="en-US" sz="1900" b="1" dirty="0">
                <a:solidFill>
                  <a:srgbClr val="7B1113"/>
                </a:solidFill>
                <a:latin typeface="Cambria" pitchFamily="34" charset="0"/>
                <a:ea typeface="Cambria" pitchFamily="34" charset="-122"/>
                <a:cs typeface="Cambria" pitchFamily="34" charset="-120"/>
              </a:rPr>
              <a:t>1967</a:t>
            </a:r>
            <a:endParaRPr lang="en-US" sz="1900" dirty="0"/>
          </a:p>
        </p:txBody>
      </p:sp>
      <p:sp>
        <p:nvSpPr>
          <p:cNvPr id="16" name="Text 14"/>
          <p:cNvSpPr txBox="1"/>
          <p:nvPr/>
        </p:nvSpPr>
        <p:spPr>
          <a:xfrm>
            <a:off x="1682496" y="3840480"/>
            <a:ext cx="4065880" cy="60350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Rajasthan SEB — “no common genus”</a:t>
            </a:r>
            <a:endParaRPr lang="en-US" sz="1250" dirty="0"/>
          </a:p>
        </p:txBody>
      </p:sp>
      <p:sp>
        <p:nvSpPr>
          <p:cNvPr id="17" name="Shape 15"/>
          <p:cNvSpPr/>
          <p:nvPr/>
        </p:nvSpPr>
        <p:spPr>
          <a:xfrm>
            <a:off x="566928" y="4553712"/>
            <a:ext cx="5346040" cy="603504"/>
          </a:xfrm>
          <a:prstGeom prst="roundRect">
            <a:avLst>
              <a:gd name="adj" fmla="val 9091"/>
            </a:avLst>
          </a:prstGeom>
          <a:solidFill>
            <a:srgbClr val="EDF1F6"/>
          </a:solidFill>
          <a:ln w="9525">
            <a:solidFill>
              <a:srgbClr val="DFD9D9"/>
            </a:solidFill>
            <a:prstDash val="solid"/>
          </a:ln>
        </p:spPr>
      </p:sp>
      <p:sp>
        <p:nvSpPr>
          <p:cNvPr id="18" name="Text 16"/>
          <p:cNvSpPr txBox="1"/>
          <p:nvPr/>
        </p:nvSpPr>
        <p:spPr>
          <a:xfrm>
            <a:off x="713232" y="4553712"/>
            <a:ext cx="914400" cy="603504"/>
          </a:xfrm>
          <a:prstGeom prst="rect">
            <a:avLst/>
          </a:prstGeom>
          <a:noFill/>
          <a:ln/>
        </p:spPr>
        <p:txBody>
          <a:bodyPr wrap="square" lIns="0" tIns="0" rIns="0" bIns="0" rtlCol="0" anchor="ctr"/>
          <a:lstStyle/>
          <a:p>
            <a:pPr indent="0" marL="0">
              <a:buNone/>
            </a:pPr>
            <a:r>
              <a:rPr lang="en-US" sz="1900" b="1" dirty="0">
                <a:solidFill>
                  <a:srgbClr val="1F3A5F"/>
                </a:solidFill>
                <a:latin typeface="Cambria" pitchFamily="34" charset="0"/>
                <a:ea typeface="Cambria" pitchFamily="34" charset="-122"/>
                <a:cs typeface="Cambria" pitchFamily="34" charset="-120"/>
              </a:rPr>
              <a:t>1975</a:t>
            </a:r>
            <a:endParaRPr lang="en-US" sz="1900" dirty="0"/>
          </a:p>
        </p:txBody>
      </p:sp>
      <p:sp>
        <p:nvSpPr>
          <p:cNvPr id="19" name="Text 17"/>
          <p:cNvSpPr txBox="1"/>
          <p:nvPr/>
        </p:nvSpPr>
        <p:spPr>
          <a:xfrm>
            <a:off x="1682496" y="4553712"/>
            <a:ext cx="4065880" cy="60350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Sukhdev Singh ✓ | Sabhajit Tewary ✗</a:t>
            </a:r>
            <a:endParaRPr lang="en-US" sz="1250" dirty="0"/>
          </a:p>
        </p:txBody>
      </p:sp>
      <p:sp>
        <p:nvSpPr>
          <p:cNvPr id="20" name="Shape 18"/>
          <p:cNvSpPr/>
          <p:nvPr/>
        </p:nvSpPr>
        <p:spPr>
          <a:xfrm>
            <a:off x="566928" y="5266944"/>
            <a:ext cx="5346040" cy="603504"/>
          </a:xfrm>
          <a:prstGeom prst="roundRect">
            <a:avLst>
              <a:gd name="adj" fmla="val 9091"/>
            </a:avLst>
          </a:prstGeom>
          <a:solidFill>
            <a:srgbClr val="EDF1F6"/>
          </a:solidFill>
          <a:ln w="9525">
            <a:solidFill>
              <a:srgbClr val="DFD9D9"/>
            </a:solidFill>
            <a:prstDash val="solid"/>
          </a:ln>
        </p:spPr>
      </p:sp>
      <p:sp>
        <p:nvSpPr>
          <p:cNvPr id="21" name="Text 19"/>
          <p:cNvSpPr txBox="1"/>
          <p:nvPr/>
        </p:nvSpPr>
        <p:spPr>
          <a:xfrm>
            <a:off x="713232" y="5266944"/>
            <a:ext cx="914400" cy="603504"/>
          </a:xfrm>
          <a:prstGeom prst="rect">
            <a:avLst/>
          </a:prstGeom>
          <a:noFill/>
          <a:ln/>
        </p:spPr>
        <p:txBody>
          <a:bodyPr wrap="square" lIns="0" tIns="0" rIns="0" bIns="0" rtlCol="0" anchor="ctr"/>
          <a:lstStyle/>
          <a:p>
            <a:pPr indent="0" marL="0">
              <a:buNone/>
            </a:pPr>
            <a:r>
              <a:rPr lang="en-US" sz="1900" b="1" dirty="0">
                <a:solidFill>
                  <a:srgbClr val="1F3A5F"/>
                </a:solidFill>
                <a:latin typeface="Cambria" pitchFamily="34" charset="0"/>
                <a:ea typeface="Cambria" pitchFamily="34" charset="-122"/>
                <a:cs typeface="Cambria" pitchFamily="34" charset="-120"/>
              </a:rPr>
              <a:t>1979</a:t>
            </a:r>
            <a:endParaRPr lang="en-US" sz="1900" dirty="0"/>
          </a:p>
        </p:txBody>
      </p:sp>
      <p:sp>
        <p:nvSpPr>
          <p:cNvPr id="22" name="Text 20"/>
          <p:cNvSpPr txBox="1"/>
          <p:nvPr/>
        </p:nvSpPr>
        <p:spPr>
          <a:xfrm>
            <a:off x="1682496" y="5266944"/>
            <a:ext cx="4065880" cy="60350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R.D. Shetty — five tests</a:t>
            </a:r>
            <a:endParaRPr lang="en-US" sz="1250" dirty="0"/>
          </a:p>
        </p:txBody>
      </p:sp>
      <p:sp>
        <p:nvSpPr>
          <p:cNvPr id="23" name="Shape 21"/>
          <p:cNvSpPr/>
          <p:nvPr/>
        </p:nvSpPr>
        <p:spPr>
          <a:xfrm>
            <a:off x="6278728" y="1700784"/>
            <a:ext cx="5346040" cy="603504"/>
          </a:xfrm>
          <a:prstGeom prst="roundRect">
            <a:avLst>
              <a:gd name="adj" fmla="val 9091"/>
            </a:avLst>
          </a:prstGeom>
          <a:solidFill>
            <a:srgbClr val="FBF5E4"/>
          </a:solidFill>
          <a:ln w="15875">
            <a:solidFill>
              <a:srgbClr val="C9A227"/>
            </a:solidFill>
            <a:prstDash val="solid"/>
          </a:ln>
        </p:spPr>
      </p:sp>
      <p:sp>
        <p:nvSpPr>
          <p:cNvPr id="24" name="Text 22"/>
          <p:cNvSpPr txBox="1"/>
          <p:nvPr/>
        </p:nvSpPr>
        <p:spPr>
          <a:xfrm>
            <a:off x="6425032" y="1700784"/>
            <a:ext cx="914400" cy="603504"/>
          </a:xfrm>
          <a:prstGeom prst="rect">
            <a:avLst/>
          </a:prstGeom>
          <a:noFill/>
          <a:ln/>
        </p:spPr>
        <p:txBody>
          <a:bodyPr wrap="square" lIns="0" tIns="0" rIns="0" bIns="0" rtlCol="0" anchor="ctr"/>
          <a:lstStyle/>
          <a:p>
            <a:pPr indent="0" marL="0">
              <a:buNone/>
            </a:pPr>
            <a:r>
              <a:rPr lang="en-US" sz="1900" b="1" dirty="0">
                <a:solidFill>
                  <a:srgbClr val="7B1113"/>
                </a:solidFill>
                <a:latin typeface="Cambria" pitchFamily="34" charset="0"/>
                <a:ea typeface="Cambria" pitchFamily="34" charset="-122"/>
                <a:cs typeface="Cambria" pitchFamily="34" charset="-120"/>
              </a:rPr>
              <a:t>1981</a:t>
            </a:r>
            <a:endParaRPr lang="en-US" sz="1900" dirty="0"/>
          </a:p>
        </p:txBody>
      </p:sp>
      <p:sp>
        <p:nvSpPr>
          <p:cNvPr id="25" name="Text 23"/>
          <p:cNvSpPr txBox="1"/>
          <p:nvPr/>
        </p:nvSpPr>
        <p:spPr>
          <a:xfrm>
            <a:off x="7394296" y="1700784"/>
            <a:ext cx="4065880" cy="60350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Ajay Hasia (6 tests) · R.C. Jain (LAAFS)</a:t>
            </a:r>
            <a:endParaRPr lang="en-US" sz="1250" dirty="0"/>
          </a:p>
        </p:txBody>
      </p:sp>
      <p:sp>
        <p:nvSpPr>
          <p:cNvPr id="26" name="Shape 24"/>
          <p:cNvSpPr/>
          <p:nvPr/>
        </p:nvSpPr>
        <p:spPr>
          <a:xfrm>
            <a:off x="6278728" y="2414016"/>
            <a:ext cx="5346040" cy="603504"/>
          </a:xfrm>
          <a:prstGeom prst="roundRect">
            <a:avLst>
              <a:gd name="adj" fmla="val 9091"/>
            </a:avLst>
          </a:prstGeom>
          <a:solidFill>
            <a:srgbClr val="EDF1F6"/>
          </a:solidFill>
          <a:ln w="9525">
            <a:solidFill>
              <a:srgbClr val="DFD9D9"/>
            </a:solidFill>
            <a:prstDash val="solid"/>
          </a:ln>
        </p:spPr>
      </p:sp>
      <p:sp>
        <p:nvSpPr>
          <p:cNvPr id="27" name="Text 25"/>
          <p:cNvSpPr txBox="1"/>
          <p:nvPr/>
        </p:nvSpPr>
        <p:spPr>
          <a:xfrm>
            <a:off x="6425032" y="2414016"/>
            <a:ext cx="914400" cy="603504"/>
          </a:xfrm>
          <a:prstGeom prst="rect">
            <a:avLst/>
          </a:prstGeom>
          <a:noFill/>
          <a:ln/>
        </p:spPr>
        <p:txBody>
          <a:bodyPr wrap="square" lIns="0" tIns="0" rIns="0" bIns="0" rtlCol="0" anchor="ctr"/>
          <a:lstStyle/>
          <a:p>
            <a:pPr indent="0" marL="0">
              <a:buNone/>
            </a:pPr>
            <a:r>
              <a:rPr lang="en-US" sz="1900" b="1" dirty="0">
                <a:solidFill>
                  <a:srgbClr val="1F3A5F"/>
                </a:solidFill>
                <a:latin typeface="Cambria" pitchFamily="34" charset="0"/>
                <a:ea typeface="Cambria" pitchFamily="34" charset="-122"/>
                <a:cs typeface="Cambria" pitchFamily="34" charset="-120"/>
              </a:rPr>
              <a:t>1991</a:t>
            </a:r>
            <a:endParaRPr lang="en-US" sz="1900" dirty="0"/>
          </a:p>
        </p:txBody>
      </p:sp>
      <p:sp>
        <p:nvSpPr>
          <p:cNvPr id="28" name="Text 26"/>
          <p:cNvSpPr txBox="1"/>
          <p:nvPr/>
        </p:nvSpPr>
        <p:spPr>
          <a:xfrm>
            <a:off x="7394296" y="2414016"/>
            <a:ext cx="4065880" cy="60350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NCERT — not “State”</a:t>
            </a:r>
            <a:endParaRPr lang="en-US" sz="1250" dirty="0"/>
          </a:p>
        </p:txBody>
      </p:sp>
      <p:sp>
        <p:nvSpPr>
          <p:cNvPr id="29" name="Shape 27"/>
          <p:cNvSpPr/>
          <p:nvPr/>
        </p:nvSpPr>
        <p:spPr>
          <a:xfrm>
            <a:off x="6278728" y="3127248"/>
            <a:ext cx="5346040" cy="603504"/>
          </a:xfrm>
          <a:prstGeom prst="roundRect">
            <a:avLst>
              <a:gd name="adj" fmla="val 9091"/>
            </a:avLst>
          </a:prstGeom>
          <a:solidFill>
            <a:srgbClr val="FBF5E4"/>
          </a:solidFill>
          <a:ln w="15875">
            <a:solidFill>
              <a:srgbClr val="C9A227"/>
            </a:solidFill>
            <a:prstDash val="solid"/>
          </a:ln>
        </p:spPr>
      </p:sp>
      <p:sp>
        <p:nvSpPr>
          <p:cNvPr id="30" name="Text 28"/>
          <p:cNvSpPr txBox="1"/>
          <p:nvPr/>
        </p:nvSpPr>
        <p:spPr>
          <a:xfrm>
            <a:off x="6425032" y="3127248"/>
            <a:ext cx="914400" cy="603504"/>
          </a:xfrm>
          <a:prstGeom prst="rect">
            <a:avLst/>
          </a:prstGeom>
          <a:noFill/>
          <a:ln/>
        </p:spPr>
        <p:txBody>
          <a:bodyPr wrap="square" lIns="0" tIns="0" rIns="0" bIns="0" rtlCol="0" anchor="ctr"/>
          <a:lstStyle/>
          <a:p>
            <a:pPr indent="0" marL="0">
              <a:buNone/>
            </a:pPr>
            <a:r>
              <a:rPr lang="en-US" sz="1900" b="1" dirty="0">
                <a:solidFill>
                  <a:srgbClr val="7B1113"/>
                </a:solidFill>
                <a:latin typeface="Cambria" pitchFamily="34" charset="0"/>
                <a:ea typeface="Cambria" pitchFamily="34" charset="-122"/>
                <a:cs typeface="Cambria" pitchFamily="34" charset="-120"/>
              </a:rPr>
              <a:t>2002</a:t>
            </a:r>
            <a:endParaRPr lang="en-US" sz="1900" dirty="0"/>
          </a:p>
        </p:txBody>
      </p:sp>
      <p:sp>
        <p:nvSpPr>
          <p:cNvPr id="31" name="Text 29"/>
          <p:cNvSpPr txBox="1"/>
          <p:nvPr/>
        </p:nvSpPr>
        <p:spPr>
          <a:xfrm>
            <a:off x="7394296" y="3127248"/>
            <a:ext cx="4065880" cy="60350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Pradeep Kumar Biswas (7-J) · Rupa Ashok Hurra</a:t>
            </a:r>
            <a:endParaRPr lang="en-US" sz="1250" dirty="0"/>
          </a:p>
        </p:txBody>
      </p:sp>
      <p:sp>
        <p:nvSpPr>
          <p:cNvPr id="32" name="Shape 30"/>
          <p:cNvSpPr/>
          <p:nvPr/>
        </p:nvSpPr>
        <p:spPr>
          <a:xfrm>
            <a:off x="6278728" y="3840480"/>
            <a:ext cx="5346040" cy="603504"/>
          </a:xfrm>
          <a:prstGeom prst="roundRect">
            <a:avLst>
              <a:gd name="adj" fmla="val 9091"/>
            </a:avLst>
          </a:prstGeom>
          <a:solidFill>
            <a:srgbClr val="EDF1F6"/>
          </a:solidFill>
          <a:ln w="9525">
            <a:solidFill>
              <a:srgbClr val="DFD9D9"/>
            </a:solidFill>
            <a:prstDash val="solid"/>
          </a:ln>
        </p:spPr>
      </p:sp>
      <p:sp>
        <p:nvSpPr>
          <p:cNvPr id="33" name="Text 31"/>
          <p:cNvSpPr txBox="1"/>
          <p:nvPr/>
        </p:nvSpPr>
        <p:spPr>
          <a:xfrm>
            <a:off x="6425032" y="3840480"/>
            <a:ext cx="914400" cy="603504"/>
          </a:xfrm>
          <a:prstGeom prst="rect">
            <a:avLst/>
          </a:prstGeom>
          <a:noFill/>
          <a:ln/>
        </p:spPr>
        <p:txBody>
          <a:bodyPr wrap="square" lIns="0" tIns="0" rIns="0" bIns="0" rtlCol="0" anchor="ctr"/>
          <a:lstStyle/>
          <a:p>
            <a:pPr indent="0" marL="0">
              <a:buNone/>
            </a:pPr>
            <a:r>
              <a:rPr lang="en-US" sz="1900" b="1" dirty="0">
                <a:solidFill>
                  <a:srgbClr val="1F3A5F"/>
                </a:solidFill>
                <a:latin typeface="Cambria" pitchFamily="34" charset="0"/>
                <a:ea typeface="Cambria" pitchFamily="34" charset="-122"/>
                <a:cs typeface="Cambria" pitchFamily="34" charset="-120"/>
              </a:rPr>
              <a:t>2005</a:t>
            </a:r>
            <a:endParaRPr lang="en-US" sz="1900" dirty="0"/>
          </a:p>
        </p:txBody>
      </p:sp>
      <p:sp>
        <p:nvSpPr>
          <p:cNvPr id="34" name="Text 32"/>
          <p:cNvSpPr txBox="1"/>
          <p:nvPr/>
        </p:nvSpPr>
        <p:spPr>
          <a:xfrm>
            <a:off x="7394296" y="3840480"/>
            <a:ext cx="4065880" cy="60350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Zee Telefilms — BCCI not “State”</a:t>
            </a:r>
            <a:endParaRPr lang="en-US" sz="1250" dirty="0"/>
          </a:p>
        </p:txBody>
      </p:sp>
      <p:sp>
        <p:nvSpPr>
          <p:cNvPr id="35" name="Shape 33"/>
          <p:cNvSpPr/>
          <p:nvPr/>
        </p:nvSpPr>
        <p:spPr>
          <a:xfrm>
            <a:off x="6278728" y="4553712"/>
            <a:ext cx="5346040" cy="603504"/>
          </a:xfrm>
          <a:prstGeom prst="roundRect">
            <a:avLst>
              <a:gd name="adj" fmla="val 9091"/>
            </a:avLst>
          </a:prstGeom>
          <a:solidFill>
            <a:srgbClr val="FBF5E4"/>
          </a:solidFill>
          <a:ln w="15875">
            <a:solidFill>
              <a:srgbClr val="C9A227"/>
            </a:solidFill>
            <a:prstDash val="solid"/>
          </a:ln>
        </p:spPr>
      </p:sp>
      <p:sp>
        <p:nvSpPr>
          <p:cNvPr id="36" name="Text 34"/>
          <p:cNvSpPr txBox="1"/>
          <p:nvPr/>
        </p:nvSpPr>
        <p:spPr>
          <a:xfrm>
            <a:off x="6425032" y="4553712"/>
            <a:ext cx="914400" cy="603504"/>
          </a:xfrm>
          <a:prstGeom prst="rect">
            <a:avLst/>
          </a:prstGeom>
          <a:noFill/>
          <a:ln/>
        </p:spPr>
        <p:txBody>
          <a:bodyPr wrap="square" lIns="0" tIns="0" rIns="0" bIns="0" rtlCol="0" anchor="ctr"/>
          <a:lstStyle/>
          <a:p>
            <a:pPr indent="0" marL="0">
              <a:buNone/>
            </a:pPr>
            <a:r>
              <a:rPr lang="en-US" sz="1900" b="1" dirty="0">
                <a:solidFill>
                  <a:srgbClr val="7B1113"/>
                </a:solidFill>
                <a:latin typeface="Cambria" pitchFamily="34" charset="0"/>
                <a:ea typeface="Cambria" pitchFamily="34" charset="-122"/>
                <a:cs typeface="Cambria" pitchFamily="34" charset="-120"/>
              </a:rPr>
              <a:t>2023</a:t>
            </a:r>
            <a:endParaRPr lang="en-US" sz="1900" dirty="0"/>
          </a:p>
        </p:txBody>
      </p:sp>
      <p:sp>
        <p:nvSpPr>
          <p:cNvPr id="37" name="Text 35"/>
          <p:cNvSpPr txBox="1"/>
          <p:nvPr/>
        </p:nvSpPr>
        <p:spPr>
          <a:xfrm>
            <a:off x="7394296" y="4553712"/>
            <a:ext cx="4065880" cy="60350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Kaushal Kishor — horizontality</a:t>
            </a:r>
            <a:endParaRPr lang="en-US" sz="1250" dirty="0"/>
          </a:p>
        </p:txBody>
      </p:sp>
      <p:sp>
        <p:nvSpPr>
          <p:cNvPr id="38" name="Text 36"/>
          <p:cNvSpPr txBox="1"/>
          <p:nvPr/>
        </p:nvSpPr>
        <p:spPr>
          <a:xfrm>
            <a:off x="6278728" y="5285232"/>
            <a:ext cx="5346040" cy="36576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Highlighted years are the four you cannot afford to confuse.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18</a:t>
            </a:r>
            <a:endParaRPr lang="en-US" sz="1000" dirty="0"/>
          </a:p>
        </p:txBody>
      </p:sp>
      <p:sp>
        <p:nvSpPr>
          <p:cNvPr id="3" name="Text 1"/>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00" kern="0" dirty="0">
                <a:solidFill>
                  <a:srgbClr val="C9A227"/>
                </a:solidFill>
                <a:latin typeface="Calibri" pitchFamily="34" charset="0"/>
                <a:ea typeface="Calibri" pitchFamily="34" charset="-122"/>
                <a:cs typeface="Calibri" pitchFamily="34" charset="-120"/>
              </a:rPr>
              <a:t>PRELIMS</a:t>
            </a:r>
            <a:endParaRPr lang="en-US" sz="1050" dirty="0"/>
          </a:p>
        </p:txBody>
      </p:sp>
      <p:sp>
        <p:nvSpPr>
          <p:cNvPr id="4" name="Text 2"/>
          <p:cNvSpPr txBox="1"/>
          <p:nvPr/>
        </p:nvSpPr>
        <p:spPr>
          <a:xfrm>
            <a:off x="566928" y="603504"/>
            <a:ext cx="11057839" cy="603504"/>
          </a:xfrm>
          <a:prstGeom prst="rect">
            <a:avLst/>
          </a:prstGeom>
          <a:noFill/>
          <a:ln/>
        </p:spPr>
        <p:txBody>
          <a:bodyPr wrap="square" lIns="0" tIns="0" rIns="0" bIns="0" rtlCol="0" anchor="ctr"/>
          <a:lstStyle/>
          <a:p>
            <a:pPr indent="0" marL="0">
              <a:buNone/>
            </a:pPr>
            <a:r>
              <a:rPr lang="en-US" sz="2900" b="1" dirty="0">
                <a:solidFill>
                  <a:srgbClr val="7B1113"/>
                </a:solidFill>
                <a:latin typeface="Cambria" pitchFamily="34" charset="0"/>
                <a:ea typeface="Cambria" pitchFamily="34" charset="-122"/>
                <a:cs typeface="Cambria" pitchFamily="34" charset="-120"/>
              </a:rPr>
              <a:t>Statement-Based Traps</a:t>
            </a:r>
            <a:endParaRPr lang="en-US" sz="2900" dirty="0"/>
          </a:p>
        </p:txBody>
      </p:sp>
      <p:sp>
        <p:nvSpPr>
          <p:cNvPr id="5" name="Shape 3"/>
          <p:cNvSpPr/>
          <p:nvPr/>
        </p:nvSpPr>
        <p:spPr>
          <a:xfrm>
            <a:off x="566928" y="1719072"/>
            <a:ext cx="5346040" cy="4023360"/>
          </a:xfrm>
          <a:prstGeom prst="roundRect">
            <a:avLst>
              <a:gd name="adj" fmla="val 1818"/>
            </a:avLst>
          </a:prstGeom>
          <a:solidFill>
            <a:srgbClr val="F7EFEF"/>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6" name="Text 4"/>
          <p:cNvSpPr txBox="1"/>
          <p:nvPr/>
        </p:nvSpPr>
        <p:spPr>
          <a:xfrm>
            <a:off x="841248" y="1883664"/>
            <a:ext cx="4797400" cy="365760"/>
          </a:xfrm>
          <a:prstGeom prst="rect">
            <a:avLst/>
          </a:prstGeom>
          <a:noFill/>
          <a:ln/>
        </p:spPr>
        <p:txBody>
          <a:bodyPr wrap="square" lIns="0" tIns="0" rIns="0" bIns="0" rtlCol="0" anchor="ctr"/>
          <a:lstStyle/>
          <a:p>
            <a:pPr indent="0" marL="0">
              <a:buNone/>
            </a:pPr>
            <a:r>
              <a:rPr lang="en-US" sz="2000" b="1" dirty="0">
                <a:solidFill>
                  <a:srgbClr val="B3261E"/>
                </a:solidFill>
                <a:latin typeface="Cambria" pitchFamily="34" charset="0"/>
                <a:ea typeface="Cambria" pitchFamily="34" charset="-122"/>
                <a:cs typeface="Cambria" pitchFamily="34" charset="-120"/>
              </a:rPr>
              <a:t>✗   FALSE STATEMENTS</a:t>
            </a:r>
            <a:endParaRPr lang="en-US" sz="2000" dirty="0"/>
          </a:p>
        </p:txBody>
      </p:sp>
      <p:sp>
        <p:nvSpPr>
          <p:cNvPr id="7" name="Text 5"/>
          <p:cNvSpPr txBox="1"/>
          <p:nvPr/>
        </p:nvSpPr>
        <p:spPr>
          <a:xfrm>
            <a:off x="841248" y="2322576"/>
            <a:ext cx="4797400" cy="3200400"/>
          </a:xfrm>
          <a:prstGeom prst="rect">
            <a:avLst/>
          </a:prstGeom>
          <a:noFill/>
          <a:ln/>
        </p:spPr>
        <p:txBody>
          <a:bodyPr wrap="square" lIns="0" tIns="0" rIns="0" bIns="0" rtlCol="0" anchor="ctr"/>
          <a:lstStyle/>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“Other authorities” is read ejusdem generis</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Article 12 defines “State” exhaustively</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All PSUs and government companies are automatically “State”</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The judiciary is never “State”</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BCCI is “State” under Article 12</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NCERT is “State” under Article 12</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An elected body is essential for local-authority status</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Mere government financial aid makes a body “State”</a:t>
            </a:r>
            <a:endParaRPr lang="en-US" sz="1300" dirty="0"/>
          </a:p>
        </p:txBody>
      </p:sp>
      <p:sp>
        <p:nvSpPr>
          <p:cNvPr id="8" name="Shape 6"/>
          <p:cNvSpPr/>
          <p:nvPr/>
        </p:nvSpPr>
        <p:spPr>
          <a:xfrm>
            <a:off x="6278728" y="1719072"/>
            <a:ext cx="5346040" cy="4023360"/>
          </a:xfrm>
          <a:prstGeom prst="roundRect">
            <a:avLst>
              <a:gd name="adj" fmla="val 1818"/>
            </a:avLst>
          </a:prstGeom>
          <a:solidFill>
            <a:srgbClr val="EDF1F6"/>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9" name="Text 7"/>
          <p:cNvSpPr txBox="1"/>
          <p:nvPr/>
        </p:nvSpPr>
        <p:spPr>
          <a:xfrm>
            <a:off x="6553048" y="1883664"/>
            <a:ext cx="4797400" cy="365760"/>
          </a:xfrm>
          <a:prstGeom prst="rect">
            <a:avLst/>
          </a:prstGeom>
          <a:noFill/>
          <a:ln/>
        </p:spPr>
        <p:txBody>
          <a:bodyPr wrap="square" lIns="0" tIns="0" rIns="0" bIns="0" rtlCol="0" anchor="ctr"/>
          <a:lstStyle/>
          <a:p>
            <a:pPr indent="0" marL="0">
              <a:buNone/>
            </a:pPr>
            <a:r>
              <a:rPr lang="en-US" sz="2000" b="1" dirty="0">
                <a:solidFill>
                  <a:srgbClr val="1B6B3A"/>
                </a:solidFill>
                <a:latin typeface="Cambria" pitchFamily="34" charset="0"/>
                <a:ea typeface="Cambria" pitchFamily="34" charset="-122"/>
                <a:cs typeface="Cambria" pitchFamily="34" charset="-120"/>
              </a:rPr>
              <a:t>✓   TRUE STATEMENTS</a:t>
            </a:r>
            <a:endParaRPr lang="en-US" sz="2000" dirty="0"/>
          </a:p>
        </p:txBody>
      </p:sp>
      <p:sp>
        <p:nvSpPr>
          <p:cNvPr id="10" name="Text 8"/>
          <p:cNvSpPr txBox="1"/>
          <p:nvPr/>
        </p:nvSpPr>
        <p:spPr>
          <a:xfrm>
            <a:off x="6553048" y="2322576"/>
            <a:ext cx="4797400" cy="3200400"/>
          </a:xfrm>
          <a:prstGeom prst="rect">
            <a:avLst/>
          </a:prstGeom>
          <a:noFill/>
          <a:ln/>
        </p:spPr>
        <p:txBody>
          <a:bodyPr wrap="square" lIns="0" tIns="0" rIns="0" bIns="0" rtlCol="0" anchor="ctr"/>
          <a:lstStyle/>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The definition is inclusive, not exhaustive</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Article 12 governs Part III AND Part IV (via Art. 36)</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A body outside India but under GoI control is “State”</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A body need not perform sovereign functions — it may be commercial</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CSIR is “State” (2002, 7-judge bench)</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Article 226 is wider than Article 32</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Articles 19 and 21 are now partly horizontal (2023)</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7B1113"/>
        </a:solidFill>
      </p:bgPr>
    </p:bg>
    <p:spTree>
      <p:nvGrpSpPr>
        <p:cNvPr id="1" name=""/>
        <p:cNvGrpSpPr/>
        <p:nvPr/>
      </p:nvGrpSpPr>
      <p:grpSpPr>
        <a:xfrm>
          <a:off x="0" y="0"/>
          <a:ext cx="0" cy="0"/>
          <a:chOff x="0" y="0"/>
          <a:chExt cx="0" cy="0"/>
        </a:xfrm>
      </p:grpSpPr>
      <p:sp>
        <p:nvSpPr>
          <p:cNvPr id="2" name="Text 0"/>
          <p:cNvSpPr txBox="1"/>
          <p:nvPr/>
        </p:nvSpPr>
        <p:spPr>
          <a:xfrm>
            <a:off x="566928" y="731520"/>
            <a:ext cx="11057839" cy="274320"/>
          </a:xfrm>
          <a:prstGeom prst="rect">
            <a:avLst/>
          </a:prstGeom>
          <a:noFill/>
          <a:ln/>
        </p:spPr>
        <p:txBody>
          <a:bodyPr wrap="square" lIns="0" tIns="0" rIns="0" bIns="0" rtlCol="0" anchor="ctr"/>
          <a:lstStyle/>
          <a:p>
            <a:pPr indent="0" marL="0">
              <a:buNone/>
            </a:pPr>
            <a:r>
              <a:rPr lang="en-US" sz="1150" b="1" spc="250" kern="0" dirty="0">
                <a:solidFill>
                  <a:srgbClr val="C9A227"/>
                </a:solidFill>
                <a:latin typeface="Calibri" pitchFamily="34" charset="0"/>
                <a:ea typeface="Calibri" pitchFamily="34" charset="-122"/>
                <a:cs typeface="Calibri" pitchFamily="34" charset="-120"/>
              </a:rPr>
              <a:t>MAINS  ·  GS PAPER II</a:t>
            </a:r>
            <a:endParaRPr lang="en-US" sz="1150" dirty="0"/>
          </a:p>
        </p:txBody>
      </p:sp>
      <p:sp>
        <p:nvSpPr>
          <p:cNvPr id="3" name="Text 1"/>
          <p:cNvSpPr txBox="1"/>
          <p:nvPr/>
        </p:nvSpPr>
        <p:spPr>
          <a:xfrm>
            <a:off x="566928" y="1024128"/>
            <a:ext cx="11057839" cy="603504"/>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Argument to Carry Into the Answer Sheet</a:t>
            </a:r>
            <a:endParaRPr lang="en-US" sz="3200" dirty="0"/>
          </a:p>
        </p:txBody>
      </p:sp>
      <p:sp>
        <p:nvSpPr>
          <p:cNvPr id="4" name="Shape 2"/>
          <p:cNvSpPr/>
          <p:nvPr/>
        </p:nvSpPr>
        <p:spPr>
          <a:xfrm>
            <a:off x="566928" y="1773936"/>
            <a:ext cx="11057839" cy="1060704"/>
          </a:xfrm>
          <a:prstGeom prst="roundRect">
            <a:avLst>
              <a:gd name="adj" fmla="val 6897"/>
            </a:avLst>
          </a:prstGeom>
          <a:solidFill>
            <a:srgbClr val="5A0C0E"/>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5" name="Text 3"/>
          <p:cNvSpPr txBox="1"/>
          <p:nvPr/>
        </p:nvSpPr>
        <p:spPr>
          <a:xfrm>
            <a:off x="566928" y="1773936"/>
            <a:ext cx="11057839" cy="1060704"/>
          </a:xfrm>
          <a:prstGeom prst="rect">
            <a:avLst/>
          </a:prstGeom>
          <a:noFill/>
          <a:ln/>
        </p:spPr>
        <p:txBody>
          <a:bodyPr wrap="square" lIns="0" tIns="0" rIns="0" bIns="0" rtlCol="0" anchor="ctr"/>
          <a:lstStyle/>
          <a:p>
            <a:pPr algn="ctr" indent="0" marL="0">
              <a:buNone/>
            </a:pPr>
            <a:r>
              <a:rPr lang="en-US" sz="2100" b="1" dirty="0">
                <a:solidFill>
                  <a:srgbClr val="C9A227"/>
                </a:solidFill>
                <a:latin typeface="Cambria" pitchFamily="34" charset="0"/>
                <a:ea typeface="Cambria" pitchFamily="34" charset="-122"/>
                <a:cs typeface="Cambria" pitchFamily="34" charset="-120"/>
              </a:rPr>
              <a:t>The trend is from an INSTITUTIONAL test to a FUNCTIONAL one — what is being done, not who is doing it.</a:t>
            </a:r>
            <a:endParaRPr lang="en-US" sz="2100" dirty="0"/>
          </a:p>
        </p:txBody>
      </p:sp>
      <p:sp>
        <p:nvSpPr>
          <p:cNvPr id="6" name="Shape 4"/>
          <p:cNvSpPr/>
          <p:nvPr/>
        </p:nvSpPr>
        <p:spPr>
          <a:xfrm>
            <a:off x="566928" y="2999232"/>
            <a:ext cx="5346040" cy="2743200"/>
          </a:xfrm>
          <a:prstGeom prst="roundRect">
            <a:avLst>
              <a:gd name="adj" fmla="val 2667"/>
            </a:avLst>
          </a:prstGeom>
          <a:solidFill>
            <a:srgbClr val="5A0C0E"/>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7" name="Text 5"/>
          <p:cNvSpPr txBox="1"/>
          <p:nvPr/>
        </p:nvSpPr>
        <p:spPr>
          <a:xfrm>
            <a:off x="841248" y="3182112"/>
            <a:ext cx="4797400" cy="274320"/>
          </a:xfrm>
          <a:prstGeom prst="rect">
            <a:avLst/>
          </a:prstGeom>
          <a:noFill/>
          <a:ln/>
        </p:spPr>
        <p:txBody>
          <a:bodyPr wrap="square" lIns="0" tIns="0" rIns="0" bIns="0"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LIKELY QUESTION FRAMINGS</a:t>
            </a:r>
            <a:endParaRPr lang="en-US" sz="1100" dirty="0"/>
          </a:p>
        </p:txBody>
      </p:sp>
      <p:sp>
        <p:nvSpPr>
          <p:cNvPr id="8" name="Text 6"/>
          <p:cNvSpPr txBox="1"/>
          <p:nvPr/>
        </p:nvSpPr>
        <p:spPr>
          <a:xfrm>
            <a:off x="841248" y="3511296"/>
            <a:ext cx="4797400" cy="2011680"/>
          </a:xfrm>
          <a:prstGeom prst="rect">
            <a:avLst/>
          </a:prstGeom>
          <a:noFill/>
          <a:ln/>
        </p:spPr>
        <p:txBody>
          <a:bodyPr wrap="square" lIns="0" tIns="0" rIns="0" bIns="0" rtlCol="0" anchor="ctr"/>
          <a:lstStyle/>
          <a:p>
            <a:pPr marL="342900" indent="-342900">
              <a:spcAft>
                <a:spcPts val="1100"/>
              </a:spcAft>
              <a:buSzPct val="100000"/>
              <a:buChar char="•"/>
            </a:pPr>
            <a:r>
              <a:rPr lang="en-US" sz="1300" dirty="0">
                <a:solidFill>
                  <a:srgbClr val="FFFFFF"/>
                </a:solidFill>
                <a:latin typeface="Calibri" pitchFamily="34" charset="0"/>
                <a:ea typeface="Calibri" pitchFamily="34" charset="-122"/>
                <a:cs typeface="Calibri" pitchFamily="34" charset="-120"/>
              </a:rPr>
              <a:t>“Other authorities” has been judicially expanded far beyond the framers’ contemplation. Examine.</a:t>
            </a:r>
            <a:endParaRPr lang="en-US" sz="1300" dirty="0"/>
          </a:p>
          <a:p>
            <a:pPr marL="342900" indent="-342900">
              <a:spcAft>
                <a:spcPts val="1100"/>
              </a:spcAft>
              <a:buSzPct val="100000"/>
              <a:buChar char="•"/>
            </a:pPr>
            <a:r>
              <a:rPr lang="en-US" sz="1300" dirty="0">
                <a:solidFill>
                  <a:srgbClr val="FFFFFF"/>
                </a:solidFill>
                <a:latin typeface="Calibri" pitchFamily="34" charset="0"/>
                <a:ea typeface="Calibri" pitchFamily="34" charset="-122"/>
                <a:cs typeface="Calibri" pitchFamily="34" charset="-120"/>
              </a:rPr>
              <a:t>Article 12 is the gatekeeper of Part III. In an era of privatisation and PPP, is that gate too narrow?</a:t>
            </a:r>
            <a:endParaRPr lang="en-US" sz="1300" dirty="0"/>
          </a:p>
          <a:p>
            <a:pPr marL="342900" indent="-342900">
              <a:spcAft>
                <a:spcPts val="1100"/>
              </a:spcAft>
              <a:buSzPct val="100000"/>
              <a:buChar char="•"/>
            </a:pPr>
            <a:r>
              <a:rPr lang="en-US" sz="1300" dirty="0">
                <a:solidFill>
                  <a:srgbClr val="FFFFFF"/>
                </a:solidFill>
                <a:latin typeface="Calibri" pitchFamily="34" charset="0"/>
                <a:ea typeface="Calibri" pitchFamily="34" charset="-122"/>
                <a:cs typeface="Calibri" pitchFamily="34" charset="-120"/>
              </a:rPr>
              <a:t>Should the judiciary be brought within the definition of “State”? Discuss.</a:t>
            </a:r>
            <a:endParaRPr lang="en-US" sz="1300" dirty="0"/>
          </a:p>
        </p:txBody>
      </p:sp>
      <p:sp>
        <p:nvSpPr>
          <p:cNvPr id="9" name="Shape 7"/>
          <p:cNvSpPr/>
          <p:nvPr/>
        </p:nvSpPr>
        <p:spPr>
          <a:xfrm>
            <a:off x="6278728" y="2999232"/>
            <a:ext cx="5346040" cy="2743200"/>
          </a:xfrm>
          <a:prstGeom prst="roundRect">
            <a:avLst>
              <a:gd name="adj" fmla="val 2667"/>
            </a:avLst>
          </a:prstGeom>
          <a:solidFill>
            <a:srgbClr val="5A0C0E"/>
          </a:solidFill>
          <a:ln w="9525">
            <a:solidFill>
              <a:srgbClr val="DFD9D9"/>
            </a:solidFill>
            <a:prstDash val="solid"/>
          </a:ln>
          <a:effectLst>
            <a:outerShdw sx="100000" sy="100000" kx="0" ky="0" algn="bl" rotWithShape="0" blurRad="127000" dist="25400" dir="5400000">
              <a:srgbClr val="000000">
                <a:alpha val="10000"/>
              </a:srgbClr>
            </a:outerShdw>
          </a:effectLst>
        </p:spPr>
      </p:sp>
      <p:sp>
        <p:nvSpPr>
          <p:cNvPr id="10" name="Text 8"/>
          <p:cNvSpPr txBox="1"/>
          <p:nvPr/>
        </p:nvSpPr>
        <p:spPr>
          <a:xfrm>
            <a:off x="6553048" y="3182112"/>
            <a:ext cx="4797400" cy="274320"/>
          </a:xfrm>
          <a:prstGeom prst="rect">
            <a:avLst/>
          </a:prstGeom>
          <a:noFill/>
          <a:ln/>
        </p:spPr>
        <p:txBody>
          <a:bodyPr wrap="square" lIns="0" tIns="0" rIns="0" bIns="0"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VALUE ADDITIONS</a:t>
            </a:r>
            <a:endParaRPr lang="en-US" sz="1100" dirty="0"/>
          </a:p>
        </p:txBody>
      </p:sp>
      <p:sp>
        <p:nvSpPr>
          <p:cNvPr id="11" name="Text 9"/>
          <p:cNvSpPr txBox="1"/>
          <p:nvPr/>
        </p:nvSpPr>
        <p:spPr>
          <a:xfrm>
            <a:off x="6553048" y="3493008"/>
            <a:ext cx="4797400" cy="2212848"/>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Ambedkar, Constituent Assembly, 25 Nov 1948</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NCERT — “tempered by a wise limitation”</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Pradeep Kumar Biswas — financially, functionally, administratively dominated</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Kaushal Kishor (2023) — horizontality</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Comparative: US “state action” doctrine; South Africa binds private persons expressly</a:t>
            </a:r>
            <a:endParaRPr lang="en-US" sz="1200" dirty="0"/>
          </a:p>
        </p:txBody>
      </p:sp>
      <p:sp>
        <p:nvSpPr>
          <p:cNvPr id="12" name="Text 10"/>
          <p:cNvSpPr txBox="1"/>
          <p:nvPr/>
        </p:nvSpPr>
        <p:spPr>
          <a:xfrm>
            <a:off x="566928" y="6035040"/>
            <a:ext cx="11057839" cy="310896"/>
          </a:xfrm>
          <a:prstGeom prst="rect">
            <a:avLst/>
          </a:prstGeom>
          <a:noFill/>
          <a:ln/>
        </p:spPr>
        <p:txBody>
          <a:bodyPr wrap="square" lIns="0" tIns="0" rIns="0" bIns="0" rtlCol="0" anchor="ctr"/>
          <a:lstStyle/>
          <a:p>
            <a:pPr indent="0" marL="0">
              <a:buNone/>
            </a:pPr>
            <a:r>
              <a:rPr lang="en-US" sz="1300" i="1" dirty="0">
                <a:solidFill>
                  <a:srgbClr val="E8CFD0"/>
                </a:solidFill>
                <a:latin typeface="Calibri" pitchFamily="34" charset="0"/>
                <a:ea typeface="Calibri" pitchFamily="34" charset="-122"/>
                <a:cs typeface="Calibri" pitchFamily="34" charset="-120"/>
              </a:rPr>
              <a:t>Next: Article 13 — severability, eclipse, waiver.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Article 12 - Definition of "State"</dc:title>
  <dc:subject>PptxGenJS Presentation</dc:subject>
  <dc:creator>UPSC CSE Polity</dc:creator>
  <cp:lastModifiedBy>UPSC CSE Polity</cp:lastModifiedBy>
  <cp:revision>1</cp:revision>
  <dcterms:created xsi:type="dcterms:W3CDTF">2026-09-04T07:43:33Z</dcterms:created>
  <dcterms:modified xsi:type="dcterms:W3CDTF">2026-09-04T07:43:33Z</dcterms:modified>
</cp:coreProperties>
</file>